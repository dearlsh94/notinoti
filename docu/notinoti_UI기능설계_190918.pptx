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1" r:id="rId5"/>
    <p:sldId id="260" r:id="rId6"/>
    <p:sldId id="263" r:id="rId7"/>
    <p:sldId id="262" r:id="rId8"/>
    <p:sldId id="265" r:id="rId9"/>
    <p:sldId id="266" r:id="rId10"/>
    <p:sldId id="264" r:id="rId11"/>
    <p:sldId id="258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505E3EF-67EA-436B-97B2-0124C06EBD24}" styleName="보통 스타일 4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8D230F3-CF80-4859-8CE7-A43EE81993B5}" styleName="밝은 스타일 1 - 강조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8B1032C-EA38-4F05-BA0D-38AFFFC7BED3}" styleName="밝은 스타일 3 - 강조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624"/>
  </p:normalViewPr>
  <p:slideViewPr>
    <p:cSldViewPr snapToGrid="0" snapToObjects="1">
      <p:cViewPr varScale="1">
        <p:scale>
          <a:sx n="104" d="100"/>
          <a:sy n="104" d="100"/>
        </p:scale>
        <p:origin x="36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958AB4-8D76-E54A-80E7-6875F3D713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C08B3D2-510C-2248-9F0B-450E38101F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EFB73D7-BDD7-F24E-9CF9-FE80D4D8D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619A5-057B-984C-A66C-78D2134D72EA}" type="datetimeFigureOut">
              <a:rPr kumimoji="1" lang="ko-KR" altLang="en-US" smtClean="0"/>
              <a:t>2019. 9. 18.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BB173E3-7C22-6948-9DFD-66190BEFD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E387DC8-D63A-4B4A-B2F9-964638E9A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3909F-55AB-3F4E-A994-F2A9845EBE5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10173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4C8004-4FAC-AF4C-860A-16D9917D3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9ABE1D-1D56-6B4D-AD2E-6D935364E5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0B3006-0DCE-EF4D-B6FB-F5AA26B31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619A5-057B-984C-A66C-78D2134D72EA}" type="datetimeFigureOut">
              <a:rPr kumimoji="1" lang="ko-KR" altLang="en-US" smtClean="0"/>
              <a:t>2019. 9. 18.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24B02DD-3385-804F-BA75-3DDD94FC9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358A495-17D2-3348-A265-4DCF25E2E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3909F-55AB-3F4E-A994-F2A9845EBE5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40469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E9ACAB-725F-E341-93A3-9BC58A258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F9514D1-C1E5-3A45-9FB7-3815B43DC2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09CB9A1-0E57-7B42-B158-509264B36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619A5-057B-984C-A66C-78D2134D72EA}" type="datetimeFigureOut">
              <a:rPr kumimoji="1" lang="ko-KR" altLang="en-US" smtClean="0"/>
              <a:t>2019. 9. 18.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9AC104-2FF1-2547-9BE0-6A57641F7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BDA686-A74E-D346-8594-11A7960B0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3909F-55AB-3F4E-A994-F2A9845EBE5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02603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F5D7B9-53F2-404F-BD00-6EE04D041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A9DF-1A52-444A-81ED-275B5FB0A9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0976607-7636-0546-8F3E-B84CA9D8AE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F725F31-EE27-3841-820F-73F29EF45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619A5-057B-984C-A66C-78D2134D72EA}" type="datetimeFigureOut">
              <a:rPr kumimoji="1" lang="ko-KR" altLang="en-US" smtClean="0"/>
              <a:t>2019. 9. 18.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D71570D-4A1F-8641-A618-71EDA3780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93C7185-8591-DD4A-9EEF-E1B1A7168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3909F-55AB-3F4E-A994-F2A9845EBE5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16756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26E097-E272-9D4D-AA3F-BF8436930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6409A51-C6E6-4343-947B-869F3A5365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36771EE-3FF9-AD4A-81F5-0F151D247B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1762D0E-4E0F-6447-A9F9-E15F3EE517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247594E-4987-3B4E-A5F0-978004EB89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D5D4A04-C414-2B4D-B90E-2B85A9A57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619A5-057B-984C-A66C-78D2134D72EA}" type="datetimeFigureOut">
              <a:rPr kumimoji="1" lang="ko-KR" altLang="en-US" smtClean="0"/>
              <a:t>2019. 9. 18.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BD79523-1FE4-6746-A1A9-6A2E0A50A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618DCA8-A5F7-3F49-B374-8536EA8C7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3909F-55AB-3F4E-A994-F2A9845EBE5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10167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9FCD4C-3BD7-F449-9004-409C640FF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137F35F-C41B-4A41-BC41-EAF70A54B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619A5-057B-984C-A66C-78D2134D72EA}" type="datetimeFigureOut">
              <a:rPr kumimoji="1" lang="ko-KR" altLang="en-US" smtClean="0"/>
              <a:t>2019. 9. 18.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DF2B901-5E82-EB47-9E14-6AF90BEA8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70BF9E3-6288-F84A-81F4-6AE8AB7B6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3909F-55AB-3F4E-A994-F2A9845EBE5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313160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DD3C2F6-555B-1B4D-AA33-D086B7137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619A5-057B-984C-A66C-78D2134D72EA}" type="datetimeFigureOut">
              <a:rPr kumimoji="1" lang="ko-KR" altLang="en-US" smtClean="0"/>
              <a:t>2019. 9. 18.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7835B4B-4299-7940-A153-4E884D02B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8FFB468-CA07-2145-8D85-EA75193D5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3909F-55AB-3F4E-A994-F2A9845EBE5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8280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FD8AF5-79F7-B74F-9652-7A012BFE2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FBC4A27-37ED-2C4E-8F80-4493DEBBCF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D01C47A-2C20-024E-8B6C-9BBAA80B06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AEFD7F3-C9BF-2844-9238-1328773D0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619A5-057B-984C-A66C-78D2134D72EA}" type="datetimeFigureOut">
              <a:rPr kumimoji="1" lang="ko-KR" altLang="en-US" smtClean="0"/>
              <a:t>2019. 9. 18.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EFDE011-B22F-FE49-A570-466BC4B3D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D459BFD-AB4A-2044-A1D0-3DCA5EDE4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3909F-55AB-3F4E-A994-F2A9845EBE5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965234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AB4001-6D35-D449-ADB6-04D68739A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7A2777A-AC4A-8745-9109-5E7D539F81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4B4430A-1654-0440-8648-E2B47D3A4D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3FE324B-5D44-034A-9B14-CB905A982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619A5-057B-984C-A66C-78D2134D72EA}" type="datetimeFigureOut">
              <a:rPr kumimoji="1" lang="ko-KR" altLang="en-US" smtClean="0"/>
              <a:t>2019. 9. 18.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77FCE20-A87D-9547-9757-698A3C5B8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2677370-283F-CF48-8695-CEB6C50C5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3909F-55AB-3F4E-A994-F2A9845EBE5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90259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FAF9D7-904F-6F42-B923-12EEE217F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D21EA6D-27A0-CC46-8C00-C21A19E7B2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EEED92-51E7-094A-87C3-CB6B5C3DE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619A5-057B-984C-A66C-78D2134D72EA}" type="datetimeFigureOut">
              <a:rPr kumimoji="1" lang="ko-KR" altLang="en-US" smtClean="0"/>
              <a:t>2019. 9. 18.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60FE7A-8E2B-EE41-8178-5DDC3B2D8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15F22CF-9A1F-8A44-B1E9-44C417162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3909F-55AB-3F4E-A994-F2A9845EBE5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02460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78AB3F1-3CE7-E94D-86A3-4B450333D3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91BE0F9-AF5A-354E-8E49-385D647050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6D3E03-CCA7-914F-BB62-B728856EF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619A5-057B-984C-A66C-78D2134D72EA}" type="datetimeFigureOut">
              <a:rPr kumimoji="1" lang="ko-KR" altLang="en-US" smtClean="0"/>
              <a:t>2019. 9. 18.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F362A48-49A3-A24E-B942-42A8E3CC9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554E8C2-BE08-FE4C-A4CF-D043A7169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3909F-55AB-3F4E-A994-F2A9845EBE5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243600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D6E0C81-9FA2-6B4B-B1DA-1C4A03050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258C1D2-8E9D-F543-BF86-56CAD749D0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D4D25C-5A94-9146-9B97-BAC6BB9E59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D619A5-057B-984C-A66C-78D2134D72EA}" type="datetimeFigureOut">
              <a:rPr kumimoji="1" lang="ko-KR" altLang="en-US" smtClean="0"/>
              <a:t>2019. 9. 18.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2EA38AF-DAA5-9641-AAF0-3A2673885A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6247278-5A1B-9C4D-8ABC-ACCEB71F62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83909F-55AB-3F4E-A994-F2A9845EBE5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2213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CE92B82-C12B-7140-9182-63EC0E54AEBC}"/>
              </a:ext>
            </a:extLst>
          </p:cNvPr>
          <p:cNvSpPr/>
          <p:nvPr/>
        </p:nvSpPr>
        <p:spPr>
          <a:xfrm>
            <a:off x="886691" y="249381"/>
            <a:ext cx="4156364" cy="6359237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947703B-A8C3-4C4D-A155-4D5AD278911B}"/>
              </a:ext>
            </a:extLst>
          </p:cNvPr>
          <p:cNvSpPr/>
          <p:nvPr/>
        </p:nvSpPr>
        <p:spPr>
          <a:xfrm>
            <a:off x="886691" y="249381"/>
            <a:ext cx="4156364" cy="457201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Noti</a:t>
            </a:r>
            <a:endParaRPr kumimoji="1"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89ACD3EF-5392-794F-8AF3-C021B571EF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0566071"/>
              </p:ext>
            </p:extLst>
          </p:nvPr>
        </p:nvGraphicFramePr>
        <p:xfrm>
          <a:off x="886691" y="6151417"/>
          <a:ext cx="4156364" cy="457201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039091">
                  <a:extLst>
                    <a:ext uri="{9D8B030D-6E8A-4147-A177-3AD203B41FA5}">
                      <a16:colId xmlns:a16="http://schemas.microsoft.com/office/drawing/2014/main" val="275485686"/>
                    </a:ext>
                  </a:extLst>
                </a:gridCol>
                <a:gridCol w="1039091">
                  <a:extLst>
                    <a:ext uri="{9D8B030D-6E8A-4147-A177-3AD203B41FA5}">
                      <a16:colId xmlns:a16="http://schemas.microsoft.com/office/drawing/2014/main" val="240881608"/>
                    </a:ext>
                  </a:extLst>
                </a:gridCol>
                <a:gridCol w="1039091">
                  <a:extLst>
                    <a:ext uri="{9D8B030D-6E8A-4147-A177-3AD203B41FA5}">
                      <a16:colId xmlns:a16="http://schemas.microsoft.com/office/drawing/2014/main" val="3157163294"/>
                    </a:ext>
                  </a:extLst>
                </a:gridCol>
                <a:gridCol w="1039091">
                  <a:extLst>
                    <a:ext uri="{9D8B030D-6E8A-4147-A177-3AD203B41FA5}">
                      <a16:colId xmlns:a16="http://schemas.microsoft.com/office/drawing/2014/main" val="4148719735"/>
                    </a:ext>
                  </a:extLst>
                </a:gridCol>
              </a:tblGrid>
              <a:tr h="45720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/>
                        <a:t>Noti</a:t>
                      </a:r>
                      <a:endParaRPr lang="ko-KR" altLang="en-US" sz="14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Schedule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List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Setting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8061045"/>
                  </a:ext>
                </a:extLst>
              </a:tr>
            </a:tbl>
          </a:graphicData>
        </a:graphic>
      </p:graphicFrame>
      <p:sp>
        <p:nvSpPr>
          <p:cNvPr id="11" name="직사각형 10">
            <a:extLst>
              <a:ext uri="{FF2B5EF4-FFF2-40B4-BE49-F238E27FC236}">
                <a16:creationId xmlns:a16="http://schemas.microsoft.com/office/drawing/2014/main" id="{480F42A2-86F1-1747-9C8A-644A5E6D7C3D}"/>
              </a:ext>
            </a:extLst>
          </p:cNvPr>
          <p:cNvSpPr/>
          <p:nvPr/>
        </p:nvSpPr>
        <p:spPr>
          <a:xfrm>
            <a:off x="1011382" y="872837"/>
            <a:ext cx="3893127" cy="41563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dirty="0"/>
              <a:t>제목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D0131DB-BA86-F049-8631-09D665B77BE7}"/>
              </a:ext>
            </a:extLst>
          </p:cNvPr>
          <p:cNvSpPr/>
          <p:nvPr/>
        </p:nvSpPr>
        <p:spPr>
          <a:xfrm>
            <a:off x="1011382" y="1482436"/>
            <a:ext cx="3893127" cy="2438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dirty="0"/>
              <a:t>내용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736B446B-2F4B-9B48-A5BE-74BB9B112AF0}"/>
              </a:ext>
            </a:extLst>
          </p:cNvPr>
          <p:cNvSpPr/>
          <p:nvPr/>
        </p:nvSpPr>
        <p:spPr>
          <a:xfrm>
            <a:off x="3394364" y="4128655"/>
            <a:ext cx="1510145" cy="457200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7A3FB2-DEAA-D04E-9058-63994FD2B4A9}"/>
              </a:ext>
            </a:extLst>
          </p:cNvPr>
          <p:cNvSpPr txBox="1"/>
          <p:nvPr/>
        </p:nvSpPr>
        <p:spPr>
          <a:xfrm>
            <a:off x="1011382" y="4128655"/>
            <a:ext cx="1953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dirty="0"/>
              <a:t>즉시 전송</a:t>
            </a: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94ACF06D-F472-0B4C-ADA8-3D10C82FD1A9}"/>
              </a:ext>
            </a:extLst>
          </p:cNvPr>
          <p:cNvSpPr/>
          <p:nvPr/>
        </p:nvSpPr>
        <p:spPr>
          <a:xfrm>
            <a:off x="4419600" y="4128655"/>
            <a:ext cx="484909" cy="45720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12691F6-C394-B44C-B8EF-4752B3851BE0}"/>
              </a:ext>
            </a:extLst>
          </p:cNvPr>
          <p:cNvSpPr/>
          <p:nvPr/>
        </p:nvSpPr>
        <p:spPr>
          <a:xfrm>
            <a:off x="1011382" y="5555674"/>
            <a:ext cx="3893127" cy="41563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dirty="0"/>
              <a:t>Send</a:t>
            </a:r>
            <a:endParaRPr kumimoji="1" lang="ko-KR" altLang="en-US" dirty="0"/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7E993425-628B-E34D-A16D-29B393063D28}"/>
              </a:ext>
            </a:extLst>
          </p:cNvPr>
          <p:cNvSpPr/>
          <p:nvPr/>
        </p:nvSpPr>
        <p:spPr>
          <a:xfrm>
            <a:off x="782782" y="658088"/>
            <a:ext cx="457200" cy="457200"/>
          </a:xfrm>
          <a:prstGeom prst="ellipse">
            <a:avLst/>
          </a:prstGeom>
          <a:ln w="28575">
            <a:solidFill>
              <a:srgbClr val="7030A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dirty="0"/>
              <a:t>1</a:t>
            </a:r>
            <a:endParaRPr kumimoji="1" lang="ko-KR" altLang="en-US" dirty="0"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9589882A-1E8D-8D46-8F5C-0A28DD7E25E8}"/>
              </a:ext>
            </a:extLst>
          </p:cNvPr>
          <p:cNvSpPr/>
          <p:nvPr/>
        </p:nvSpPr>
        <p:spPr>
          <a:xfrm>
            <a:off x="782782" y="1295401"/>
            <a:ext cx="457200" cy="457200"/>
          </a:xfrm>
          <a:prstGeom prst="ellipse">
            <a:avLst/>
          </a:prstGeom>
          <a:ln w="28575">
            <a:solidFill>
              <a:srgbClr val="7030A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dirty="0"/>
              <a:t>2</a:t>
            </a:r>
            <a:endParaRPr kumimoji="1" lang="ko-KR" altLang="en-US" dirty="0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472CFCC8-9C21-3649-9FCB-DC063A50005F}"/>
              </a:ext>
            </a:extLst>
          </p:cNvPr>
          <p:cNvSpPr/>
          <p:nvPr/>
        </p:nvSpPr>
        <p:spPr>
          <a:xfrm>
            <a:off x="782782" y="3812369"/>
            <a:ext cx="457200" cy="457200"/>
          </a:xfrm>
          <a:prstGeom prst="ellipse">
            <a:avLst/>
          </a:prstGeom>
          <a:ln w="28575">
            <a:solidFill>
              <a:srgbClr val="7030A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dirty="0"/>
              <a:t>3</a:t>
            </a:r>
            <a:endParaRPr kumimoji="1" lang="ko-KR" alt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A0A26AE-54D4-AE43-A504-BA3DEAB170E4}"/>
              </a:ext>
            </a:extLst>
          </p:cNvPr>
          <p:cNvSpPr txBox="1"/>
          <p:nvPr/>
        </p:nvSpPr>
        <p:spPr>
          <a:xfrm>
            <a:off x="1239982" y="4890655"/>
            <a:ext cx="3422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dirty="0"/>
              <a:t>시간 정보</a:t>
            </a: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4CF5BF84-2274-074D-9025-B29C2B6446D4}"/>
              </a:ext>
            </a:extLst>
          </p:cNvPr>
          <p:cNvSpPr/>
          <p:nvPr/>
        </p:nvSpPr>
        <p:spPr>
          <a:xfrm>
            <a:off x="1988127" y="4648198"/>
            <a:ext cx="457200" cy="457200"/>
          </a:xfrm>
          <a:prstGeom prst="ellipse">
            <a:avLst/>
          </a:prstGeom>
          <a:ln w="28575">
            <a:solidFill>
              <a:srgbClr val="7030A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dirty="0"/>
              <a:t>4</a:t>
            </a:r>
            <a:endParaRPr kumimoji="1" lang="ko-KR" altLang="en-US" dirty="0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280425F0-C5D4-3F4E-BF40-71820B0D6339}"/>
              </a:ext>
            </a:extLst>
          </p:cNvPr>
          <p:cNvSpPr/>
          <p:nvPr/>
        </p:nvSpPr>
        <p:spPr>
          <a:xfrm>
            <a:off x="782782" y="5181604"/>
            <a:ext cx="457200" cy="457200"/>
          </a:xfrm>
          <a:prstGeom prst="ellipse">
            <a:avLst/>
          </a:prstGeom>
          <a:ln w="28575">
            <a:solidFill>
              <a:srgbClr val="7030A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dirty="0"/>
              <a:t>5</a:t>
            </a:r>
            <a:endParaRPr kumimoji="1" lang="ko-KR" altLang="en-US" dirty="0"/>
          </a:p>
        </p:txBody>
      </p:sp>
      <p:graphicFrame>
        <p:nvGraphicFramePr>
          <p:cNvPr id="32" name="표 31">
            <a:extLst>
              <a:ext uri="{FF2B5EF4-FFF2-40B4-BE49-F238E27FC236}">
                <a16:creationId xmlns:a16="http://schemas.microsoft.com/office/drawing/2014/main" id="{B8E3343C-D648-2C42-AFDE-9686CE16CA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6007378"/>
              </p:ext>
            </p:extLst>
          </p:nvPr>
        </p:nvGraphicFramePr>
        <p:xfrm>
          <a:off x="6470073" y="249381"/>
          <a:ext cx="5370946" cy="57219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1382">
                  <a:extLst>
                    <a:ext uri="{9D8B030D-6E8A-4147-A177-3AD203B41FA5}">
                      <a16:colId xmlns:a16="http://schemas.microsoft.com/office/drawing/2014/main" val="1084392719"/>
                    </a:ext>
                  </a:extLst>
                </a:gridCol>
                <a:gridCol w="4359564">
                  <a:extLst>
                    <a:ext uri="{9D8B030D-6E8A-4147-A177-3AD203B41FA5}">
                      <a16:colId xmlns:a16="http://schemas.microsoft.com/office/drawing/2014/main" val="1786874928"/>
                    </a:ext>
                  </a:extLst>
                </a:gridCol>
              </a:tblGrid>
              <a:tr h="42225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번호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기능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2269710"/>
                  </a:ext>
                </a:extLst>
              </a:tr>
              <a:tr h="88258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1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클릭 시 팝업 창 생성하여 텍스트를 </a:t>
                      </a:r>
                      <a:r>
                        <a:rPr lang="ko-KR" altLang="en-US" sz="1200" dirty="0" err="1"/>
                        <a:t>입력받은</a:t>
                      </a:r>
                      <a:r>
                        <a:rPr lang="ko-KR" altLang="en-US" sz="1200" dirty="0"/>
                        <a:t> 후 표시</a:t>
                      </a:r>
                      <a:endParaRPr lang="en-US" altLang="ko-KR" sz="1200" dirty="0"/>
                    </a:p>
                    <a:p>
                      <a:pPr latinLnBrk="1"/>
                      <a:r>
                        <a:rPr lang="en-US" altLang="ko-KR" sz="1200" dirty="0"/>
                        <a:t>-</a:t>
                      </a:r>
                      <a:r>
                        <a:rPr lang="ko-KR" altLang="en-US" sz="1200" dirty="0"/>
                        <a:t> 최대 길이 제한 </a:t>
                      </a:r>
                      <a:r>
                        <a:rPr lang="en-US" altLang="ko-KR" sz="1200" dirty="0"/>
                        <a:t>20</a:t>
                      </a:r>
                      <a:r>
                        <a:rPr lang="ko-KR" altLang="en-US" sz="1200" dirty="0"/>
                        <a:t>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5739453"/>
                  </a:ext>
                </a:extLst>
              </a:tr>
              <a:tr h="88258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2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클릭 시 팝업 창 생성하여 텍스트를 </a:t>
                      </a:r>
                      <a:r>
                        <a:rPr lang="ko-KR" altLang="en-US" sz="1200" dirty="0" err="1"/>
                        <a:t>입력받은</a:t>
                      </a:r>
                      <a:r>
                        <a:rPr lang="ko-KR" altLang="en-US" sz="1200" dirty="0"/>
                        <a:t> 후 표시</a:t>
                      </a:r>
                    </a:p>
                    <a:p>
                      <a:pPr latinLnBrk="1"/>
                      <a:r>
                        <a:rPr lang="en-US" altLang="ko-KR" sz="1200" dirty="0"/>
                        <a:t>-</a:t>
                      </a:r>
                      <a:r>
                        <a:rPr lang="ko-KR" altLang="en-US" sz="1200" dirty="0"/>
                        <a:t> 최대 길이 제한 </a:t>
                      </a:r>
                      <a:r>
                        <a:rPr lang="en-US" altLang="ko-KR" sz="1200" dirty="0"/>
                        <a:t>100</a:t>
                      </a:r>
                      <a:r>
                        <a:rPr lang="ko-KR" altLang="en-US" sz="1200" dirty="0"/>
                        <a:t>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74650"/>
                  </a:ext>
                </a:extLst>
              </a:tr>
              <a:tr h="88677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3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1. On </a:t>
                      </a:r>
                      <a:r>
                        <a:rPr lang="ko-KR" altLang="en-US" sz="1200" dirty="0"/>
                        <a:t>시 팝업 창 생성하여 </a:t>
                      </a:r>
                      <a:r>
                        <a:rPr lang="en-US" altLang="ko-KR" sz="1200" dirty="0" err="1"/>
                        <a:t>DateTime</a:t>
                      </a:r>
                      <a:r>
                        <a:rPr lang="en-US" altLang="ko-KR" sz="1200" dirty="0"/>
                        <a:t> </a:t>
                      </a:r>
                      <a:r>
                        <a:rPr lang="ko-KR" altLang="en-US" sz="1200" dirty="0"/>
                        <a:t>값 입력 받은 후 </a:t>
                      </a:r>
                      <a:r>
                        <a:rPr lang="en-US" altLang="ko-KR" sz="1200" dirty="0"/>
                        <a:t>5</a:t>
                      </a:r>
                      <a:r>
                        <a:rPr lang="ko-KR" altLang="en-US" sz="1200" dirty="0"/>
                        <a:t>번 항목에 표시</a:t>
                      </a:r>
                      <a:endParaRPr lang="en-US" altLang="ko-KR" sz="1200" dirty="0"/>
                    </a:p>
                    <a:p>
                      <a:pPr latinLnBrk="1"/>
                      <a:r>
                        <a:rPr lang="en-US" altLang="ko-KR" sz="1200" dirty="0"/>
                        <a:t>2.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Off </a:t>
                      </a:r>
                      <a:r>
                        <a:rPr lang="ko-KR" altLang="en-US" sz="1200" dirty="0"/>
                        <a:t>시 설정되었던 </a:t>
                      </a:r>
                      <a:r>
                        <a:rPr lang="en-US" altLang="ko-KR" sz="1200" dirty="0" err="1"/>
                        <a:t>DateTime</a:t>
                      </a:r>
                      <a:r>
                        <a:rPr lang="en-US" altLang="ko-KR" sz="1200" dirty="0"/>
                        <a:t> </a:t>
                      </a:r>
                      <a:r>
                        <a:rPr lang="ko-KR" altLang="en-US" sz="1200" dirty="0"/>
                        <a:t>값 초기화</a:t>
                      </a:r>
                      <a:endParaRPr lang="en-US" altLang="ko-KR" sz="1200" dirty="0"/>
                    </a:p>
                    <a:p>
                      <a:pPr latinLnBrk="1"/>
                      <a:r>
                        <a:rPr lang="en-US" altLang="ko-KR" sz="1200" dirty="0"/>
                        <a:t>-</a:t>
                      </a:r>
                      <a:r>
                        <a:rPr lang="ko-KR" altLang="en-US" sz="1200" dirty="0"/>
                        <a:t> 기본 값 </a:t>
                      </a:r>
                      <a:r>
                        <a:rPr lang="en-US" altLang="ko-KR" sz="1200" dirty="0"/>
                        <a:t>Off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1376154"/>
                  </a:ext>
                </a:extLst>
              </a:tr>
              <a:tr h="88258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4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1.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3</a:t>
                      </a:r>
                      <a:r>
                        <a:rPr lang="ko-KR" altLang="en-US" sz="1200" dirty="0"/>
                        <a:t>번 항목이 </a:t>
                      </a:r>
                      <a:r>
                        <a:rPr lang="en-US" altLang="ko-KR" sz="1200" dirty="0"/>
                        <a:t>On</a:t>
                      </a:r>
                      <a:r>
                        <a:rPr lang="ko-KR" altLang="en-US" sz="1200" dirty="0"/>
                        <a:t>일 경우 설정 된 </a:t>
                      </a:r>
                      <a:r>
                        <a:rPr lang="en-US" altLang="ko-KR" sz="1200" dirty="0" err="1"/>
                        <a:t>DateTime</a:t>
                      </a:r>
                      <a:r>
                        <a:rPr lang="ko-KR" altLang="en-US" sz="1200" dirty="0"/>
                        <a:t> 값 표시</a:t>
                      </a:r>
                      <a:endParaRPr lang="en-US" altLang="ko-KR" sz="1200" dirty="0"/>
                    </a:p>
                    <a:p>
                      <a:pPr latinLnBrk="1"/>
                      <a:r>
                        <a:rPr lang="en-US" altLang="ko-KR" sz="1200" dirty="0"/>
                        <a:t>2.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3</a:t>
                      </a:r>
                      <a:r>
                        <a:rPr lang="ko-KR" altLang="en-US" sz="1200" dirty="0"/>
                        <a:t>번 항목이 </a:t>
                      </a:r>
                      <a:r>
                        <a:rPr lang="en-US" altLang="ko-KR" sz="1200" dirty="0"/>
                        <a:t>Off</a:t>
                      </a:r>
                      <a:r>
                        <a:rPr lang="ko-KR" altLang="en-US" sz="1200" dirty="0"/>
                        <a:t>일 경우</a:t>
                      </a:r>
                      <a:r>
                        <a:rPr lang="en-US" altLang="ko-KR" sz="1200" dirty="0"/>
                        <a:t> ‘right now’ </a:t>
                      </a:r>
                      <a:r>
                        <a:rPr lang="ko-KR" altLang="en-US" sz="1200" dirty="0"/>
                        <a:t>문구 표시</a:t>
                      </a:r>
                      <a:endParaRPr lang="en-US" altLang="ko-KR" sz="1200" dirty="0"/>
                    </a:p>
                    <a:p>
                      <a:pPr latinLnBrk="1"/>
                      <a:r>
                        <a:rPr lang="en-US" altLang="ko-KR" sz="1200" dirty="0"/>
                        <a:t>-</a:t>
                      </a:r>
                      <a:r>
                        <a:rPr lang="ko-KR" altLang="en-US" sz="1200" dirty="0"/>
                        <a:t> 기본 값 ’</a:t>
                      </a:r>
                      <a:r>
                        <a:rPr lang="en-US" altLang="ko-KR" sz="1200" dirty="0"/>
                        <a:t>right now’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012453"/>
                  </a:ext>
                </a:extLst>
              </a:tr>
              <a:tr h="88258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5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1.</a:t>
                      </a:r>
                      <a:r>
                        <a:rPr lang="ko-KR" altLang="en-US" sz="1200" dirty="0"/>
                        <a:t> 설정 된 </a:t>
                      </a:r>
                      <a:r>
                        <a:rPr lang="en-US" altLang="ko-KR" sz="1200" dirty="0" err="1"/>
                        <a:t>DateTime</a:t>
                      </a:r>
                      <a:r>
                        <a:rPr lang="ko-KR" altLang="en-US" sz="1200" dirty="0"/>
                        <a:t> 값이 존재 시 해당 시간에 </a:t>
                      </a:r>
                      <a:r>
                        <a:rPr lang="en-US" altLang="ko-KR" sz="1200" dirty="0" err="1"/>
                        <a:t>Noti</a:t>
                      </a:r>
                      <a:r>
                        <a:rPr lang="ko-KR" altLang="en-US" sz="1200" dirty="0"/>
                        <a:t> 전송</a:t>
                      </a:r>
                      <a:endParaRPr lang="en-US" altLang="ko-KR" sz="1200" dirty="0"/>
                    </a:p>
                    <a:p>
                      <a:pPr latinLnBrk="1"/>
                      <a:r>
                        <a:rPr lang="en-US" altLang="ko-KR" sz="1200" dirty="0"/>
                        <a:t>2.</a:t>
                      </a:r>
                      <a:r>
                        <a:rPr lang="ko-KR" altLang="en-US" sz="1200" dirty="0"/>
                        <a:t> 설정 값이 없을 경우 즉시 전송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7724951"/>
                  </a:ext>
                </a:extLst>
              </a:tr>
              <a:tr h="88258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6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폼 값 초기화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9488524"/>
                  </a:ext>
                </a:extLst>
              </a:tr>
            </a:tbl>
          </a:graphicData>
        </a:graphic>
      </p:graphicFrame>
      <p:sp>
        <p:nvSpPr>
          <p:cNvPr id="33" name="직사각형 32">
            <a:extLst>
              <a:ext uri="{FF2B5EF4-FFF2-40B4-BE49-F238E27FC236}">
                <a16:creationId xmlns:a16="http://schemas.microsoft.com/office/drawing/2014/main" id="{A9C20B1A-5033-8943-BE53-70F888C920ED}"/>
              </a:ext>
            </a:extLst>
          </p:cNvPr>
          <p:cNvSpPr/>
          <p:nvPr/>
        </p:nvSpPr>
        <p:spPr>
          <a:xfrm>
            <a:off x="4419600" y="263232"/>
            <a:ext cx="484909" cy="41563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sz="1050" dirty="0"/>
              <a:t>reset</a:t>
            </a:r>
            <a:endParaRPr kumimoji="1" lang="ko-KR" altLang="en-US" sz="1050" dirty="0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C68BDDFE-ED12-0E48-ADF4-4FCC5A5CF5F3}"/>
              </a:ext>
            </a:extLst>
          </p:cNvPr>
          <p:cNvSpPr/>
          <p:nvPr/>
        </p:nvSpPr>
        <p:spPr>
          <a:xfrm>
            <a:off x="4125191" y="-86596"/>
            <a:ext cx="457200" cy="457200"/>
          </a:xfrm>
          <a:prstGeom prst="ellipse">
            <a:avLst/>
          </a:prstGeom>
          <a:ln w="28575">
            <a:solidFill>
              <a:srgbClr val="7030A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dirty="0"/>
              <a:t>6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468628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직사각형 19">
            <a:extLst>
              <a:ext uri="{FF2B5EF4-FFF2-40B4-BE49-F238E27FC236}">
                <a16:creationId xmlns:a16="http://schemas.microsoft.com/office/drawing/2014/main" id="{9C576D1A-DE47-134F-B9F0-9BE789F69085}"/>
              </a:ext>
            </a:extLst>
          </p:cNvPr>
          <p:cNvSpPr/>
          <p:nvPr/>
        </p:nvSpPr>
        <p:spPr>
          <a:xfrm>
            <a:off x="1025236" y="263232"/>
            <a:ext cx="484909" cy="41563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sz="1050" dirty="0"/>
              <a:t>back</a:t>
            </a:r>
            <a:endParaRPr kumimoji="1" lang="ko-KR" altLang="en-US" sz="1050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CE92B82-C12B-7140-9182-63EC0E54AEBC}"/>
              </a:ext>
            </a:extLst>
          </p:cNvPr>
          <p:cNvSpPr/>
          <p:nvPr/>
        </p:nvSpPr>
        <p:spPr>
          <a:xfrm>
            <a:off x="886691" y="249381"/>
            <a:ext cx="4156364" cy="6359237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947703B-A8C3-4C4D-A155-4D5AD278911B}"/>
              </a:ext>
            </a:extLst>
          </p:cNvPr>
          <p:cNvSpPr/>
          <p:nvPr/>
        </p:nvSpPr>
        <p:spPr>
          <a:xfrm>
            <a:off x="886691" y="249381"/>
            <a:ext cx="4156364" cy="457201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Noti</a:t>
            </a:r>
            <a:endParaRPr kumimoji="1"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89ACD3EF-5392-794F-8AF3-C021B571EF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1363181"/>
              </p:ext>
            </p:extLst>
          </p:nvPr>
        </p:nvGraphicFramePr>
        <p:xfrm>
          <a:off x="886691" y="6151417"/>
          <a:ext cx="4156364" cy="457201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039091">
                  <a:extLst>
                    <a:ext uri="{9D8B030D-6E8A-4147-A177-3AD203B41FA5}">
                      <a16:colId xmlns:a16="http://schemas.microsoft.com/office/drawing/2014/main" val="275485686"/>
                    </a:ext>
                  </a:extLst>
                </a:gridCol>
                <a:gridCol w="1039091">
                  <a:extLst>
                    <a:ext uri="{9D8B030D-6E8A-4147-A177-3AD203B41FA5}">
                      <a16:colId xmlns:a16="http://schemas.microsoft.com/office/drawing/2014/main" val="240881608"/>
                    </a:ext>
                  </a:extLst>
                </a:gridCol>
                <a:gridCol w="1039091">
                  <a:extLst>
                    <a:ext uri="{9D8B030D-6E8A-4147-A177-3AD203B41FA5}">
                      <a16:colId xmlns:a16="http://schemas.microsoft.com/office/drawing/2014/main" val="3157163294"/>
                    </a:ext>
                  </a:extLst>
                </a:gridCol>
                <a:gridCol w="1039091">
                  <a:extLst>
                    <a:ext uri="{9D8B030D-6E8A-4147-A177-3AD203B41FA5}">
                      <a16:colId xmlns:a16="http://schemas.microsoft.com/office/drawing/2014/main" val="4148719735"/>
                    </a:ext>
                  </a:extLst>
                </a:gridCol>
              </a:tblGrid>
              <a:tr h="45720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/>
                        <a:t>Noti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Schedule</a:t>
                      </a:r>
                      <a:endParaRPr lang="ko-KR" altLang="en-US" sz="14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List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Setting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8061045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93F40407-5C74-0748-A247-3163E8B20E2E}"/>
              </a:ext>
            </a:extLst>
          </p:cNvPr>
          <p:cNvSpPr/>
          <p:nvPr/>
        </p:nvSpPr>
        <p:spPr>
          <a:xfrm>
            <a:off x="1011382" y="872837"/>
            <a:ext cx="3893127" cy="41563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dirty="0"/>
              <a:t>제목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994087A-CECC-9844-B528-EEBFC660940F}"/>
              </a:ext>
            </a:extLst>
          </p:cNvPr>
          <p:cNvSpPr/>
          <p:nvPr/>
        </p:nvSpPr>
        <p:spPr>
          <a:xfrm>
            <a:off x="1011382" y="1482436"/>
            <a:ext cx="3893127" cy="2438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dirty="0"/>
              <a:t>내용</a:t>
            </a: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EE529924-5AA3-824B-A3D6-521F1D9E9AB0}"/>
              </a:ext>
            </a:extLst>
          </p:cNvPr>
          <p:cNvSpPr/>
          <p:nvPr/>
        </p:nvSpPr>
        <p:spPr>
          <a:xfrm>
            <a:off x="782782" y="658088"/>
            <a:ext cx="457200" cy="457200"/>
          </a:xfrm>
          <a:prstGeom prst="ellipse">
            <a:avLst/>
          </a:prstGeom>
          <a:ln w="28575">
            <a:solidFill>
              <a:srgbClr val="7030A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dirty="0"/>
              <a:t>1</a:t>
            </a:r>
            <a:endParaRPr kumimoji="1" lang="ko-KR" altLang="en-US" dirty="0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5F5800A9-F6F1-1D41-BE54-6C67AADC95EC}"/>
              </a:ext>
            </a:extLst>
          </p:cNvPr>
          <p:cNvSpPr/>
          <p:nvPr/>
        </p:nvSpPr>
        <p:spPr>
          <a:xfrm>
            <a:off x="782782" y="1295401"/>
            <a:ext cx="457200" cy="457200"/>
          </a:xfrm>
          <a:prstGeom prst="ellipse">
            <a:avLst/>
          </a:prstGeom>
          <a:ln w="28575">
            <a:solidFill>
              <a:srgbClr val="7030A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dirty="0"/>
              <a:t>2</a:t>
            </a:r>
            <a:endParaRPr kumimoji="1"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B0032A88-A76C-6E4B-BD2A-113D01ECB1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6410342"/>
              </p:ext>
            </p:extLst>
          </p:nvPr>
        </p:nvGraphicFramePr>
        <p:xfrm>
          <a:off x="1011382" y="4114798"/>
          <a:ext cx="3893127" cy="37084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556161">
                  <a:extLst>
                    <a:ext uri="{9D8B030D-6E8A-4147-A177-3AD203B41FA5}">
                      <a16:colId xmlns:a16="http://schemas.microsoft.com/office/drawing/2014/main" val="2827300374"/>
                    </a:ext>
                  </a:extLst>
                </a:gridCol>
                <a:gridCol w="556161">
                  <a:extLst>
                    <a:ext uri="{9D8B030D-6E8A-4147-A177-3AD203B41FA5}">
                      <a16:colId xmlns:a16="http://schemas.microsoft.com/office/drawing/2014/main" val="541689375"/>
                    </a:ext>
                  </a:extLst>
                </a:gridCol>
                <a:gridCol w="556161">
                  <a:extLst>
                    <a:ext uri="{9D8B030D-6E8A-4147-A177-3AD203B41FA5}">
                      <a16:colId xmlns:a16="http://schemas.microsoft.com/office/drawing/2014/main" val="4016701470"/>
                    </a:ext>
                  </a:extLst>
                </a:gridCol>
                <a:gridCol w="556161">
                  <a:extLst>
                    <a:ext uri="{9D8B030D-6E8A-4147-A177-3AD203B41FA5}">
                      <a16:colId xmlns:a16="http://schemas.microsoft.com/office/drawing/2014/main" val="2789192190"/>
                    </a:ext>
                  </a:extLst>
                </a:gridCol>
                <a:gridCol w="556161">
                  <a:extLst>
                    <a:ext uri="{9D8B030D-6E8A-4147-A177-3AD203B41FA5}">
                      <a16:colId xmlns:a16="http://schemas.microsoft.com/office/drawing/2014/main" val="3665487633"/>
                    </a:ext>
                  </a:extLst>
                </a:gridCol>
                <a:gridCol w="556161">
                  <a:extLst>
                    <a:ext uri="{9D8B030D-6E8A-4147-A177-3AD203B41FA5}">
                      <a16:colId xmlns:a16="http://schemas.microsoft.com/office/drawing/2014/main" val="1625888833"/>
                    </a:ext>
                  </a:extLst>
                </a:gridCol>
                <a:gridCol w="556161">
                  <a:extLst>
                    <a:ext uri="{9D8B030D-6E8A-4147-A177-3AD203B41FA5}">
                      <a16:colId xmlns:a16="http://schemas.microsoft.com/office/drawing/2014/main" val="34222669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월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화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수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목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금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8868469"/>
                  </a:ext>
                </a:extLst>
              </a:tr>
            </a:tbl>
          </a:graphicData>
        </a:graphic>
      </p:graphicFrame>
      <p:sp>
        <p:nvSpPr>
          <p:cNvPr id="11" name="직사각형 10">
            <a:extLst>
              <a:ext uri="{FF2B5EF4-FFF2-40B4-BE49-F238E27FC236}">
                <a16:creationId xmlns:a16="http://schemas.microsoft.com/office/drawing/2014/main" id="{25E1B6A5-FC3B-5D4C-BB68-CFADDD954B79}"/>
              </a:ext>
            </a:extLst>
          </p:cNvPr>
          <p:cNvSpPr/>
          <p:nvPr/>
        </p:nvSpPr>
        <p:spPr>
          <a:xfrm>
            <a:off x="1011382" y="5555674"/>
            <a:ext cx="3893127" cy="41563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dirty="0"/>
              <a:t>Send</a:t>
            </a:r>
            <a:endParaRPr kumimoji="1"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DDBB101-5634-9341-B1F2-00E008C2212C}"/>
              </a:ext>
            </a:extLst>
          </p:cNvPr>
          <p:cNvSpPr/>
          <p:nvPr/>
        </p:nvSpPr>
        <p:spPr>
          <a:xfrm>
            <a:off x="1011382" y="4752109"/>
            <a:ext cx="3893127" cy="48490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dirty="0"/>
              <a:t>00:00</a:t>
            </a:r>
            <a:endParaRPr kumimoji="1" lang="ko-KR" altLang="en-US" dirty="0"/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7B956AE1-66A5-B844-94EC-954846101B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9398657"/>
              </p:ext>
            </p:extLst>
          </p:nvPr>
        </p:nvGraphicFramePr>
        <p:xfrm>
          <a:off x="6470073" y="249381"/>
          <a:ext cx="5370946" cy="66051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1382">
                  <a:extLst>
                    <a:ext uri="{9D8B030D-6E8A-4147-A177-3AD203B41FA5}">
                      <a16:colId xmlns:a16="http://schemas.microsoft.com/office/drawing/2014/main" val="1084392719"/>
                    </a:ext>
                  </a:extLst>
                </a:gridCol>
                <a:gridCol w="4359564">
                  <a:extLst>
                    <a:ext uri="{9D8B030D-6E8A-4147-A177-3AD203B41FA5}">
                      <a16:colId xmlns:a16="http://schemas.microsoft.com/office/drawing/2014/main" val="1786874928"/>
                    </a:ext>
                  </a:extLst>
                </a:gridCol>
              </a:tblGrid>
              <a:tr h="4225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번호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기능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2269710"/>
                  </a:ext>
                </a:extLst>
              </a:tr>
              <a:tr h="88322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1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클릭 시 팝업 창 생성하여 텍스트를 </a:t>
                      </a:r>
                      <a:r>
                        <a:rPr lang="ko-KR" altLang="en-US" sz="1200" dirty="0" err="1"/>
                        <a:t>입력받은</a:t>
                      </a:r>
                      <a:r>
                        <a:rPr lang="ko-KR" altLang="en-US" sz="1200" dirty="0"/>
                        <a:t> 후 표시</a:t>
                      </a:r>
                      <a:endParaRPr lang="en-US" altLang="ko-KR" sz="1200" dirty="0"/>
                    </a:p>
                    <a:p>
                      <a:pPr latinLnBrk="1"/>
                      <a:r>
                        <a:rPr lang="en-US" altLang="ko-KR" sz="1200" dirty="0"/>
                        <a:t>-</a:t>
                      </a:r>
                      <a:r>
                        <a:rPr lang="ko-KR" altLang="en-US" sz="1200" dirty="0"/>
                        <a:t> 최대 길이 제한 </a:t>
                      </a:r>
                      <a:r>
                        <a:rPr lang="en-US" altLang="ko-KR" sz="1200" dirty="0"/>
                        <a:t>20</a:t>
                      </a:r>
                      <a:r>
                        <a:rPr lang="ko-KR" altLang="en-US" sz="1200" dirty="0"/>
                        <a:t>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5739453"/>
                  </a:ext>
                </a:extLst>
              </a:tr>
              <a:tr h="88322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2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클릭 시 팝업 창 생성하여 텍스트를 </a:t>
                      </a:r>
                      <a:r>
                        <a:rPr lang="ko-KR" altLang="en-US" sz="1200" dirty="0" err="1"/>
                        <a:t>입력받은</a:t>
                      </a:r>
                      <a:r>
                        <a:rPr lang="ko-KR" altLang="en-US" sz="1200" dirty="0"/>
                        <a:t> 후 표시</a:t>
                      </a:r>
                    </a:p>
                    <a:p>
                      <a:pPr latinLnBrk="1"/>
                      <a:r>
                        <a:rPr lang="en-US" altLang="ko-KR" sz="1200" dirty="0"/>
                        <a:t>-</a:t>
                      </a:r>
                      <a:r>
                        <a:rPr lang="ko-KR" altLang="en-US" sz="1200" dirty="0"/>
                        <a:t> 최대 길이 제한 </a:t>
                      </a:r>
                      <a:r>
                        <a:rPr lang="en-US" altLang="ko-KR" sz="1200" dirty="0"/>
                        <a:t>100</a:t>
                      </a:r>
                      <a:r>
                        <a:rPr lang="ko-KR" altLang="en-US" sz="1200" dirty="0"/>
                        <a:t>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74650"/>
                  </a:ext>
                </a:extLst>
              </a:tr>
              <a:tr h="88322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3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err="1"/>
                        <a:t>푸시를</a:t>
                      </a:r>
                      <a:r>
                        <a:rPr lang="ko-KR" altLang="en-US" sz="1200" dirty="0"/>
                        <a:t> 전송할 요일 설정</a:t>
                      </a:r>
                      <a:r>
                        <a:rPr lang="en-US" altLang="ko-KR" sz="1200" dirty="0"/>
                        <a:t>.</a:t>
                      </a:r>
                      <a:r>
                        <a:rPr lang="ko-KR" altLang="en-US" sz="1200" dirty="0"/>
                        <a:t> 각 요일 박스 클릭하여 설정</a:t>
                      </a:r>
                      <a:endParaRPr lang="en-US" altLang="ko-KR" sz="1200" dirty="0"/>
                    </a:p>
                    <a:p>
                      <a:pPr latinLnBrk="1"/>
                      <a:r>
                        <a:rPr lang="en-US" altLang="ko-KR" sz="1200" dirty="0"/>
                        <a:t>–</a:t>
                      </a:r>
                      <a:r>
                        <a:rPr lang="ko-KR" altLang="en-US" sz="1200" dirty="0"/>
                        <a:t> 배경색 있음 </a:t>
                      </a:r>
                      <a:r>
                        <a:rPr lang="en-US" altLang="ko-KR" sz="1200" dirty="0"/>
                        <a:t>:</a:t>
                      </a:r>
                      <a:r>
                        <a:rPr lang="ko-KR" altLang="en-US" sz="1200" dirty="0"/>
                        <a:t> 해당 요일 전송</a:t>
                      </a:r>
                      <a:endParaRPr lang="en-US" altLang="ko-KR" sz="1200" dirty="0"/>
                    </a:p>
                    <a:p>
                      <a:pPr latinLnBrk="1"/>
                      <a:r>
                        <a:rPr lang="en-US" altLang="ko-KR" sz="1200" dirty="0"/>
                        <a:t>-</a:t>
                      </a:r>
                      <a:r>
                        <a:rPr lang="ko-KR" altLang="en-US" sz="1200" dirty="0"/>
                        <a:t> 배경색 없음 </a:t>
                      </a:r>
                      <a:r>
                        <a:rPr lang="en-US" altLang="ko-KR" sz="1200" dirty="0"/>
                        <a:t>:</a:t>
                      </a:r>
                      <a:r>
                        <a:rPr lang="ko-KR" altLang="en-US" sz="1200" dirty="0"/>
                        <a:t> 해당 요일 </a:t>
                      </a:r>
                      <a:r>
                        <a:rPr lang="ko-KR" altLang="en-US" sz="1200" dirty="0" err="1"/>
                        <a:t>미전송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1376154"/>
                  </a:ext>
                </a:extLst>
              </a:tr>
              <a:tr h="88322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4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전송할 시간 입력</a:t>
                      </a:r>
                      <a:endParaRPr lang="en-US" altLang="ko-KR" sz="1200" dirty="0"/>
                    </a:p>
                    <a:p>
                      <a:pPr latinLnBrk="1"/>
                      <a:r>
                        <a:rPr lang="en-US" altLang="ko-KR" sz="1200" dirty="0"/>
                        <a:t>–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24h </a:t>
                      </a:r>
                      <a:r>
                        <a:rPr lang="ko-KR" altLang="en-US" sz="1200" dirty="0"/>
                        <a:t>기준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012453"/>
                  </a:ext>
                </a:extLst>
              </a:tr>
              <a:tr h="88322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5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1.</a:t>
                      </a:r>
                      <a:r>
                        <a:rPr lang="ko-KR" altLang="en-US" sz="1200" dirty="0"/>
                        <a:t> 설정 내용 등록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7724951"/>
                  </a:ext>
                </a:extLst>
              </a:tr>
              <a:tr h="88322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6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Scheduling</a:t>
                      </a:r>
                      <a:r>
                        <a:rPr lang="ko-KR" altLang="en-US" sz="1200" dirty="0"/>
                        <a:t> 내용 수정일 경우에만 활성화</a:t>
                      </a:r>
                      <a:endParaRPr lang="en-US" altLang="ko-KR" sz="1200" dirty="0"/>
                    </a:p>
                    <a:p>
                      <a:pPr latinLnBrk="1"/>
                      <a:r>
                        <a:rPr lang="en-US" altLang="ko-KR" sz="1200" dirty="0"/>
                        <a:t>-</a:t>
                      </a:r>
                      <a:r>
                        <a:rPr lang="ko-KR" altLang="en-US" sz="1200" dirty="0"/>
                        <a:t> 뒤로 가기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9395242"/>
                  </a:ext>
                </a:extLst>
              </a:tr>
              <a:tr h="88322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7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폼 값 초기화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7721033"/>
                  </a:ext>
                </a:extLst>
              </a:tr>
            </a:tbl>
          </a:graphicData>
        </a:graphic>
      </p:graphicFrame>
      <p:sp>
        <p:nvSpPr>
          <p:cNvPr id="14" name="타원 13">
            <a:extLst>
              <a:ext uri="{FF2B5EF4-FFF2-40B4-BE49-F238E27FC236}">
                <a16:creationId xmlns:a16="http://schemas.microsoft.com/office/drawing/2014/main" id="{308A91E5-00E5-0548-8067-AB3D98FF7DE1}"/>
              </a:ext>
            </a:extLst>
          </p:cNvPr>
          <p:cNvSpPr/>
          <p:nvPr/>
        </p:nvSpPr>
        <p:spPr>
          <a:xfrm>
            <a:off x="782782" y="3773747"/>
            <a:ext cx="457200" cy="457200"/>
          </a:xfrm>
          <a:prstGeom prst="ellipse">
            <a:avLst/>
          </a:prstGeom>
          <a:ln w="28575">
            <a:solidFill>
              <a:srgbClr val="7030A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dirty="0"/>
              <a:t>3</a:t>
            </a:r>
            <a:endParaRPr kumimoji="1" lang="ko-KR" altLang="en-US" dirty="0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0EEE91D7-56DC-404F-8CFF-1FBB4107626F}"/>
              </a:ext>
            </a:extLst>
          </p:cNvPr>
          <p:cNvSpPr/>
          <p:nvPr/>
        </p:nvSpPr>
        <p:spPr>
          <a:xfrm>
            <a:off x="782782" y="4537363"/>
            <a:ext cx="457200" cy="457200"/>
          </a:xfrm>
          <a:prstGeom prst="ellipse">
            <a:avLst/>
          </a:prstGeom>
          <a:ln w="28575">
            <a:solidFill>
              <a:srgbClr val="7030A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dirty="0"/>
              <a:t>4</a:t>
            </a:r>
            <a:endParaRPr kumimoji="1" lang="ko-KR" altLang="en-US" dirty="0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6C1CC031-90D8-AD4F-8408-5DF4318C0A7A}"/>
              </a:ext>
            </a:extLst>
          </p:cNvPr>
          <p:cNvSpPr/>
          <p:nvPr/>
        </p:nvSpPr>
        <p:spPr>
          <a:xfrm>
            <a:off x="782782" y="5306292"/>
            <a:ext cx="457200" cy="457200"/>
          </a:xfrm>
          <a:prstGeom prst="ellipse">
            <a:avLst/>
          </a:prstGeom>
          <a:ln w="28575">
            <a:solidFill>
              <a:srgbClr val="7030A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dirty="0"/>
              <a:t>5</a:t>
            </a:r>
            <a:endParaRPr kumimoji="1" lang="ko-KR" altLang="en-US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E6BE762-FD33-3E43-AD00-A42C4BC27BB7}"/>
              </a:ext>
            </a:extLst>
          </p:cNvPr>
          <p:cNvSpPr/>
          <p:nvPr/>
        </p:nvSpPr>
        <p:spPr>
          <a:xfrm>
            <a:off x="4419600" y="263232"/>
            <a:ext cx="484909" cy="41563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sz="1050" dirty="0"/>
              <a:t>reset</a:t>
            </a:r>
            <a:endParaRPr kumimoji="1" lang="ko-KR" altLang="en-US" sz="1050" dirty="0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A8B1ADF8-9A0C-5745-BE43-4B9171696DA1}"/>
              </a:ext>
            </a:extLst>
          </p:cNvPr>
          <p:cNvSpPr/>
          <p:nvPr/>
        </p:nvSpPr>
        <p:spPr>
          <a:xfrm>
            <a:off x="4125191" y="-86596"/>
            <a:ext cx="457200" cy="457200"/>
          </a:xfrm>
          <a:prstGeom prst="ellipse">
            <a:avLst/>
          </a:prstGeom>
          <a:ln w="28575">
            <a:solidFill>
              <a:srgbClr val="7030A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dirty="0"/>
              <a:t>7</a:t>
            </a:r>
            <a:endParaRPr kumimoji="1" lang="ko-KR" altLang="en-US" dirty="0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18F545A6-879F-1A47-9949-ED9E8A42AD28}"/>
              </a:ext>
            </a:extLst>
          </p:cNvPr>
          <p:cNvSpPr/>
          <p:nvPr/>
        </p:nvSpPr>
        <p:spPr>
          <a:xfrm>
            <a:off x="782782" y="-86596"/>
            <a:ext cx="457200" cy="457200"/>
          </a:xfrm>
          <a:prstGeom prst="ellipse">
            <a:avLst/>
          </a:prstGeom>
          <a:ln w="28575">
            <a:solidFill>
              <a:srgbClr val="7030A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dirty="0"/>
              <a:t>6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694015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CE92B82-C12B-7140-9182-63EC0E54AEBC}"/>
              </a:ext>
            </a:extLst>
          </p:cNvPr>
          <p:cNvSpPr/>
          <p:nvPr/>
        </p:nvSpPr>
        <p:spPr>
          <a:xfrm>
            <a:off x="886691" y="249381"/>
            <a:ext cx="4156364" cy="6359237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947703B-A8C3-4C4D-A155-4D5AD278911B}"/>
              </a:ext>
            </a:extLst>
          </p:cNvPr>
          <p:cNvSpPr/>
          <p:nvPr/>
        </p:nvSpPr>
        <p:spPr>
          <a:xfrm>
            <a:off x="886691" y="249381"/>
            <a:ext cx="4156364" cy="457201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Noti</a:t>
            </a:r>
            <a:endParaRPr kumimoji="1"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89ACD3EF-5392-794F-8AF3-C021B571EF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3817728"/>
              </p:ext>
            </p:extLst>
          </p:nvPr>
        </p:nvGraphicFramePr>
        <p:xfrm>
          <a:off x="886691" y="6151417"/>
          <a:ext cx="4156364" cy="457201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039091">
                  <a:extLst>
                    <a:ext uri="{9D8B030D-6E8A-4147-A177-3AD203B41FA5}">
                      <a16:colId xmlns:a16="http://schemas.microsoft.com/office/drawing/2014/main" val="275485686"/>
                    </a:ext>
                  </a:extLst>
                </a:gridCol>
                <a:gridCol w="1039091">
                  <a:extLst>
                    <a:ext uri="{9D8B030D-6E8A-4147-A177-3AD203B41FA5}">
                      <a16:colId xmlns:a16="http://schemas.microsoft.com/office/drawing/2014/main" val="240881608"/>
                    </a:ext>
                  </a:extLst>
                </a:gridCol>
                <a:gridCol w="1039091">
                  <a:extLst>
                    <a:ext uri="{9D8B030D-6E8A-4147-A177-3AD203B41FA5}">
                      <a16:colId xmlns:a16="http://schemas.microsoft.com/office/drawing/2014/main" val="3157163294"/>
                    </a:ext>
                  </a:extLst>
                </a:gridCol>
                <a:gridCol w="1039091">
                  <a:extLst>
                    <a:ext uri="{9D8B030D-6E8A-4147-A177-3AD203B41FA5}">
                      <a16:colId xmlns:a16="http://schemas.microsoft.com/office/drawing/2014/main" val="4148719735"/>
                    </a:ext>
                  </a:extLst>
                </a:gridCol>
              </a:tblGrid>
              <a:tr h="45720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/>
                        <a:t>Noti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Schedule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List</a:t>
                      </a:r>
                      <a:endParaRPr lang="ko-KR" altLang="en-US" sz="14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Setting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8061045"/>
                  </a:ext>
                </a:extLst>
              </a:tr>
            </a:tbl>
          </a:graphicData>
        </a:graphic>
      </p:graphicFrame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7794B8E4-1CF2-9C4C-AB0E-410B688743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1805072"/>
              </p:ext>
            </p:extLst>
          </p:nvPr>
        </p:nvGraphicFramePr>
        <p:xfrm>
          <a:off x="1094510" y="802795"/>
          <a:ext cx="3616036" cy="3708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808018">
                  <a:extLst>
                    <a:ext uri="{9D8B030D-6E8A-4147-A177-3AD203B41FA5}">
                      <a16:colId xmlns:a16="http://schemas.microsoft.com/office/drawing/2014/main" val="3362874980"/>
                    </a:ext>
                  </a:extLst>
                </a:gridCol>
                <a:gridCol w="1808018">
                  <a:extLst>
                    <a:ext uri="{9D8B030D-6E8A-4147-A177-3AD203B41FA5}">
                      <a16:colId xmlns:a16="http://schemas.microsoft.com/office/drawing/2014/main" val="11189023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List</a:t>
                      </a:r>
                      <a:endParaRPr lang="ko-KR" alt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Schedule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1991410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2A663C09-EB44-F947-BC43-C3E8D02792BD}"/>
              </a:ext>
            </a:extLst>
          </p:cNvPr>
          <p:cNvSpPr/>
          <p:nvPr/>
        </p:nvSpPr>
        <p:spPr>
          <a:xfrm>
            <a:off x="1011382" y="1269847"/>
            <a:ext cx="3893127" cy="478535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dirty="0"/>
              <a:t>Item List</a:t>
            </a:r>
            <a:endParaRPr kumimoji="1"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D6A67E2-01FF-4346-B94A-3B7189AF6D99}"/>
              </a:ext>
            </a:extLst>
          </p:cNvPr>
          <p:cNvSpPr/>
          <p:nvPr/>
        </p:nvSpPr>
        <p:spPr>
          <a:xfrm>
            <a:off x="1011382" y="1269848"/>
            <a:ext cx="3893127" cy="71135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en-US" altLang="ko-KR" b="1" dirty="0"/>
              <a:t>Title</a:t>
            </a:r>
          </a:p>
          <a:p>
            <a:r>
              <a:rPr kumimoji="1" lang="en-US" altLang="ko-KR" dirty="0"/>
              <a:t>datetime</a:t>
            </a:r>
            <a:endParaRPr kumimoji="1"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F239ECC-5274-2241-B789-2561DFF3B50D}"/>
              </a:ext>
            </a:extLst>
          </p:cNvPr>
          <p:cNvSpPr/>
          <p:nvPr/>
        </p:nvSpPr>
        <p:spPr>
          <a:xfrm>
            <a:off x="3138056" y="1269848"/>
            <a:ext cx="893617" cy="71135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dirty="0"/>
              <a:t>View</a:t>
            </a:r>
            <a:endParaRPr kumimoji="1"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F522AD8-864B-5340-886B-5DD1D5331A6C}"/>
              </a:ext>
            </a:extLst>
          </p:cNvPr>
          <p:cNvSpPr/>
          <p:nvPr/>
        </p:nvSpPr>
        <p:spPr>
          <a:xfrm>
            <a:off x="4007431" y="1269848"/>
            <a:ext cx="893617" cy="71135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dirty="0"/>
              <a:t>Del</a:t>
            </a:r>
            <a:endParaRPr kumimoji="1" lang="ko-KR" altLang="en-US" dirty="0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8067215F-AEBF-BF41-8355-5860471B9740}"/>
              </a:ext>
            </a:extLst>
          </p:cNvPr>
          <p:cNvSpPr/>
          <p:nvPr/>
        </p:nvSpPr>
        <p:spPr>
          <a:xfrm>
            <a:off x="782782" y="505687"/>
            <a:ext cx="457200" cy="457200"/>
          </a:xfrm>
          <a:prstGeom prst="ellipse">
            <a:avLst/>
          </a:prstGeom>
          <a:ln w="28575">
            <a:solidFill>
              <a:srgbClr val="7030A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dirty="0"/>
              <a:t>1</a:t>
            </a:r>
            <a:endParaRPr kumimoji="1" lang="ko-KR" altLang="en-US" dirty="0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DA98DC1D-5ED3-A541-8C80-275AB7EE1345}"/>
              </a:ext>
            </a:extLst>
          </p:cNvPr>
          <p:cNvSpPr/>
          <p:nvPr/>
        </p:nvSpPr>
        <p:spPr>
          <a:xfrm>
            <a:off x="782782" y="988215"/>
            <a:ext cx="457200" cy="457200"/>
          </a:xfrm>
          <a:prstGeom prst="ellipse">
            <a:avLst/>
          </a:prstGeom>
          <a:ln w="28575">
            <a:solidFill>
              <a:srgbClr val="7030A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dirty="0"/>
              <a:t>2</a:t>
            </a:r>
            <a:endParaRPr kumimoji="1" lang="ko-KR" altLang="en-US" dirty="0"/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84ED4480-B2B1-1F47-9D4E-05103EA54B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9923901"/>
              </p:ext>
            </p:extLst>
          </p:nvPr>
        </p:nvGraphicFramePr>
        <p:xfrm>
          <a:off x="6470073" y="249381"/>
          <a:ext cx="5370946" cy="29385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1382">
                  <a:extLst>
                    <a:ext uri="{9D8B030D-6E8A-4147-A177-3AD203B41FA5}">
                      <a16:colId xmlns:a16="http://schemas.microsoft.com/office/drawing/2014/main" val="1084392719"/>
                    </a:ext>
                  </a:extLst>
                </a:gridCol>
                <a:gridCol w="4359564">
                  <a:extLst>
                    <a:ext uri="{9D8B030D-6E8A-4147-A177-3AD203B41FA5}">
                      <a16:colId xmlns:a16="http://schemas.microsoft.com/office/drawing/2014/main" val="1786874928"/>
                    </a:ext>
                  </a:extLst>
                </a:gridCol>
              </a:tblGrid>
              <a:tr h="50707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번호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기능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2269710"/>
                  </a:ext>
                </a:extLst>
              </a:tr>
              <a:tr h="105987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1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List : </a:t>
                      </a:r>
                      <a:r>
                        <a:rPr lang="ko-KR" altLang="en-US" sz="1200" dirty="0" err="1"/>
                        <a:t>푸쉬</a:t>
                      </a:r>
                      <a:r>
                        <a:rPr lang="ko-KR" altLang="en-US" sz="1200" dirty="0"/>
                        <a:t> 전송 목록</a:t>
                      </a:r>
                      <a:endParaRPr lang="en-US" altLang="ko-KR" sz="1200" dirty="0"/>
                    </a:p>
                    <a:p>
                      <a:pPr latinLnBrk="1"/>
                      <a:r>
                        <a:rPr lang="en-US" altLang="ko-KR" sz="1200" dirty="0"/>
                        <a:t>Schedule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:</a:t>
                      </a:r>
                      <a:r>
                        <a:rPr lang="ko-KR" altLang="en-US" sz="1200" dirty="0"/>
                        <a:t> 현재 등록된 </a:t>
                      </a:r>
                      <a:r>
                        <a:rPr lang="ko-KR" altLang="en-US" sz="1200" dirty="0" err="1"/>
                        <a:t>푸쉬</a:t>
                      </a:r>
                      <a:r>
                        <a:rPr lang="ko-KR" altLang="en-US" sz="1200" dirty="0"/>
                        <a:t> 스케줄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5739453"/>
                  </a:ext>
                </a:extLst>
              </a:tr>
              <a:tr h="105987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2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제목 및 전송 시간 표시</a:t>
                      </a:r>
                      <a:endParaRPr lang="en-US" altLang="ko-KR" sz="120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-</a:t>
                      </a:r>
                      <a:r>
                        <a:rPr lang="ko-KR" altLang="en-US" sz="1200" dirty="0"/>
                        <a:t> 스케줄로 전송 된 </a:t>
                      </a:r>
                      <a:r>
                        <a:rPr lang="en-US" altLang="ko-KR" sz="1200" dirty="0"/>
                        <a:t>Item</a:t>
                      </a:r>
                      <a:r>
                        <a:rPr lang="ko-KR" altLang="en-US" sz="1200" dirty="0"/>
                        <a:t>은 파란색으로 표시</a:t>
                      </a:r>
                      <a:endParaRPr lang="en-US" altLang="ko-KR" sz="120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–</a:t>
                      </a:r>
                      <a:r>
                        <a:rPr lang="ko-KR" altLang="en-US" sz="1200" dirty="0"/>
                        <a:t> 일반 전송 된 </a:t>
                      </a:r>
                      <a:r>
                        <a:rPr lang="en-US" altLang="ko-KR" sz="1200" dirty="0"/>
                        <a:t>Item</a:t>
                      </a:r>
                      <a:r>
                        <a:rPr lang="ko-KR" altLang="en-US" sz="1200" dirty="0"/>
                        <a:t>은 검은색 표시</a:t>
                      </a:r>
                      <a:endParaRPr lang="en-US" altLang="ko-KR" sz="120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View : </a:t>
                      </a:r>
                      <a:r>
                        <a:rPr lang="ko-KR" altLang="en-US" sz="1200" dirty="0"/>
                        <a:t>팝업 창으로 제목</a:t>
                      </a:r>
                      <a:r>
                        <a:rPr lang="en-US" altLang="ko-KR" sz="1200" dirty="0"/>
                        <a:t>,</a:t>
                      </a:r>
                      <a:r>
                        <a:rPr lang="ko-KR" altLang="en-US" sz="1200" dirty="0"/>
                        <a:t> 내용</a:t>
                      </a:r>
                      <a:r>
                        <a:rPr lang="en-US" altLang="ko-KR" sz="1200" dirty="0"/>
                        <a:t>,</a:t>
                      </a:r>
                      <a:r>
                        <a:rPr lang="ko-KR" altLang="en-US" sz="1200" dirty="0"/>
                        <a:t> 날짜</a:t>
                      </a:r>
                      <a:r>
                        <a:rPr lang="en-US" altLang="ko-KR" sz="1200" dirty="0"/>
                        <a:t>,</a:t>
                      </a:r>
                      <a:r>
                        <a:rPr lang="ko-KR" altLang="en-US" sz="1200" dirty="0"/>
                        <a:t> 스케줄 여부 상세 보기</a:t>
                      </a:r>
                      <a:endParaRPr lang="en-US" altLang="ko-KR" sz="120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Del : </a:t>
                      </a:r>
                      <a:r>
                        <a:rPr lang="ko-KR" altLang="en-US" sz="1200" dirty="0"/>
                        <a:t>삭제 확인 창 생성 후 해당 전송 내용 삭제</a:t>
                      </a:r>
                      <a:endParaRPr lang="en-US" altLang="ko-K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74650"/>
                  </a:ext>
                </a:extLst>
              </a:tr>
            </a:tbl>
          </a:graphicData>
        </a:graphic>
      </p:graphicFrame>
      <p:sp>
        <p:nvSpPr>
          <p:cNvPr id="16" name="직사각형 15">
            <a:extLst>
              <a:ext uri="{FF2B5EF4-FFF2-40B4-BE49-F238E27FC236}">
                <a16:creationId xmlns:a16="http://schemas.microsoft.com/office/drawing/2014/main" id="{7BE139D8-AE8C-1B4B-90FB-EC6C8D42C144}"/>
              </a:ext>
            </a:extLst>
          </p:cNvPr>
          <p:cNvSpPr/>
          <p:nvPr/>
        </p:nvSpPr>
        <p:spPr>
          <a:xfrm>
            <a:off x="6470073" y="3392599"/>
            <a:ext cx="2244436" cy="275881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4846C6-8800-0542-AA4E-649E6C7310D9}"/>
              </a:ext>
            </a:extLst>
          </p:cNvPr>
          <p:cNvSpPr txBox="1"/>
          <p:nvPr/>
        </p:nvSpPr>
        <p:spPr>
          <a:xfrm>
            <a:off x="6470073" y="3428999"/>
            <a:ext cx="2244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Title</a:t>
            </a:r>
            <a:endParaRPr kumimoji="1"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F77FB3A-7E3A-4548-82D5-BDE8D1135756}"/>
              </a:ext>
            </a:extLst>
          </p:cNvPr>
          <p:cNvSpPr txBox="1"/>
          <p:nvPr/>
        </p:nvSpPr>
        <p:spPr>
          <a:xfrm>
            <a:off x="6470073" y="3775363"/>
            <a:ext cx="2244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 err="1"/>
              <a:t>DateTime</a:t>
            </a:r>
            <a:endParaRPr kumimoji="1"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410FAFB-FE89-2B45-B5ED-D5D4A970D70C}"/>
              </a:ext>
            </a:extLst>
          </p:cNvPr>
          <p:cNvSpPr txBox="1"/>
          <p:nvPr/>
        </p:nvSpPr>
        <p:spPr>
          <a:xfrm>
            <a:off x="6470073" y="4110058"/>
            <a:ext cx="2244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dirty="0"/>
              <a:t>(by Scheduler)</a:t>
            </a:r>
            <a:endParaRPr kumimoji="1"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6FA6265-5494-054C-AE11-AB9644F33D24}"/>
              </a:ext>
            </a:extLst>
          </p:cNvPr>
          <p:cNvSpPr txBox="1"/>
          <p:nvPr/>
        </p:nvSpPr>
        <p:spPr>
          <a:xfrm>
            <a:off x="6470073" y="4479390"/>
            <a:ext cx="2244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Content</a:t>
            </a:r>
            <a:endParaRPr kumimoji="1" lang="ko-KR" altLang="en-US" dirty="0"/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0B33C809-5347-9F4E-B4E5-A451925CA17A}"/>
              </a:ext>
            </a:extLst>
          </p:cNvPr>
          <p:cNvCxnSpPr>
            <a:cxnSpLocks/>
            <a:stCxn id="9" idx="3"/>
            <a:endCxn id="3" idx="1"/>
          </p:cNvCxnSpPr>
          <p:nvPr/>
        </p:nvCxnSpPr>
        <p:spPr>
          <a:xfrm>
            <a:off x="4031673" y="1625524"/>
            <a:ext cx="2438400" cy="19881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15516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59173193-989F-244F-A88E-B1B9F9FF0133}"/>
              </a:ext>
            </a:extLst>
          </p:cNvPr>
          <p:cNvSpPr/>
          <p:nvPr/>
        </p:nvSpPr>
        <p:spPr>
          <a:xfrm>
            <a:off x="1011382" y="1269847"/>
            <a:ext cx="3893127" cy="478535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dirty="0"/>
              <a:t>Item List</a:t>
            </a:r>
            <a:endParaRPr kumimoji="1"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CE92B82-C12B-7140-9182-63EC0E54AEBC}"/>
              </a:ext>
            </a:extLst>
          </p:cNvPr>
          <p:cNvSpPr/>
          <p:nvPr/>
        </p:nvSpPr>
        <p:spPr>
          <a:xfrm>
            <a:off x="886691" y="249381"/>
            <a:ext cx="4156364" cy="6359237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947703B-A8C3-4C4D-A155-4D5AD278911B}"/>
              </a:ext>
            </a:extLst>
          </p:cNvPr>
          <p:cNvSpPr/>
          <p:nvPr/>
        </p:nvSpPr>
        <p:spPr>
          <a:xfrm>
            <a:off x="886691" y="249381"/>
            <a:ext cx="4156364" cy="457201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Noti</a:t>
            </a:r>
            <a:endParaRPr kumimoji="1"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89ACD3EF-5392-794F-8AF3-C021B571EF5A}"/>
              </a:ext>
            </a:extLst>
          </p:cNvPr>
          <p:cNvGraphicFramePr>
            <a:graphicFrameLocks noGrp="1"/>
          </p:cNvGraphicFramePr>
          <p:nvPr/>
        </p:nvGraphicFramePr>
        <p:xfrm>
          <a:off x="886691" y="6151417"/>
          <a:ext cx="4156364" cy="457201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039091">
                  <a:extLst>
                    <a:ext uri="{9D8B030D-6E8A-4147-A177-3AD203B41FA5}">
                      <a16:colId xmlns:a16="http://schemas.microsoft.com/office/drawing/2014/main" val="275485686"/>
                    </a:ext>
                  </a:extLst>
                </a:gridCol>
                <a:gridCol w="1039091">
                  <a:extLst>
                    <a:ext uri="{9D8B030D-6E8A-4147-A177-3AD203B41FA5}">
                      <a16:colId xmlns:a16="http://schemas.microsoft.com/office/drawing/2014/main" val="240881608"/>
                    </a:ext>
                  </a:extLst>
                </a:gridCol>
                <a:gridCol w="1039091">
                  <a:extLst>
                    <a:ext uri="{9D8B030D-6E8A-4147-A177-3AD203B41FA5}">
                      <a16:colId xmlns:a16="http://schemas.microsoft.com/office/drawing/2014/main" val="3157163294"/>
                    </a:ext>
                  </a:extLst>
                </a:gridCol>
                <a:gridCol w="1039091">
                  <a:extLst>
                    <a:ext uri="{9D8B030D-6E8A-4147-A177-3AD203B41FA5}">
                      <a16:colId xmlns:a16="http://schemas.microsoft.com/office/drawing/2014/main" val="4148719735"/>
                    </a:ext>
                  </a:extLst>
                </a:gridCol>
              </a:tblGrid>
              <a:tr h="45720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/>
                        <a:t>Noti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Schedule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List</a:t>
                      </a:r>
                      <a:endParaRPr lang="ko-KR" altLang="en-US" sz="14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Setting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8061045"/>
                  </a:ext>
                </a:extLst>
              </a:tr>
            </a:tbl>
          </a:graphicData>
        </a:graphic>
      </p:graphicFrame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7794B8E4-1CF2-9C4C-AB0E-410B688743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1068809"/>
              </p:ext>
            </p:extLst>
          </p:nvPr>
        </p:nvGraphicFramePr>
        <p:xfrm>
          <a:off x="1094510" y="802795"/>
          <a:ext cx="3616036" cy="3708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808018">
                  <a:extLst>
                    <a:ext uri="{9D8B030D-6E8A-4147-A177-3AD203B41FA5}">
                      <a16:colId xmlns:a16="http://schemas.microsoft.com/office/drawing/2014/main" val="3362874980"/>
                    </a:ext>
                  </a:extLst>
                </a:gridCol>
                <a:gridCol w="1808018">
                  <a:extLst>
                    <a:ext uri="{9D8B030D-6E8A-4147-A177-3AD203B41FA5}">
                      <a16:colId xmlns:a16="http://schemas.microsoft.com/office/drawing/2014/main" val="11189023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List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Schedule</a:t>
                      </a:r>
                      <a:endParaRPr lang="ko-KR" alt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1991410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019DF6E5-243F-5F43-AD05-5D4FF7146505}"/>
              </a:ext>
            </a:extLst>
          </p:cNvPr>
          <p:cNvSpPr/>
          <p:nvPr/>
        </p:nvSpPr>
        <p:spPr>
          <a:xfrm>
            <a:off x="1011382" y="1269847"/>
            <a:ext cx="3893127" cy="93302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en-US" altLang="ko-KR" b="1" dirty="0"/>
              <a:t> Title</a:t>
            </a:r>
          </a:p>
          <a:p>
            <a:r>
              <a:rPr kumimoji="1" lang="en-US" altLang="ko-KR" dirty="0"/>
              <a:t> week</a:t>
            </a:r>
          </a:p>
          <a:p>
            <a:r>
              <a:rPr kumimoji="1" lang="en-US" altLang="ko-KR" dirty="0"/>
              <a:t> datetime</a:t>
            </a:r>
            <a:endParaRPr kumimoji="1"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F958CE1-B9EB-B14B-9DE7-1C3C18FEC215}"/>
              </a:ext>
            </a:extLst>
          </p:cNvPr>
          <p:cNvSpPr/>
          <p:nvPr/>
        </p:nvSpPr>
        <p:spPr>
          <a:xfrm>
            <a:off x="3138056" y="1269848"/>
            <a:ext cx="893617" cy="93302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dirty="0"/>
              <a:t>Edit</a:t>
            </a:r>
            <a:endParaRPr kumimoji="1"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870D4BE-77BE-CF4D-BCE6-F1F61B0B1A28}"/>
              </a:ext>
            </a:extLst>
          </p:cNvPr>
          <p:cNvSpPr/>
          <p:nvPr/>
        </p:nvSpPr>
        <p:spPr>
          <a:xfrm>
            <a:off x="4007431" y="1269848"/>
            <a:ext cx="893617" cy="93302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dirty="0"/>
              <a:t>Del</a:t>
            </a:r>
            <a:endParaRPr kumimoji="1" lang="ko-KR" altLang="en-US" dirty="0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85DAE5AA-9D8D-E649-BD59-687BB44D21EE}"/>
              </a:ext>
            </a:extLst>
          </p:cNvPr>
          <p:cNvSpPr/>
          <p:nvPr/>
        </p:nvSpPr>
        <p:spPr>
          <a:xfrm>
            <a:off x="782782" y="505687"/>
            <a:ext cx="457200" cy="457200"/>
          </a:xfrm>
          <a:prstGeom prst="ellipse">
            <a:avLst/>
          </a:prstGeom>
          <a:ln w="28575">
            <a:solidFill>
              <a:srgbClr val="7030A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dirty="0"/>
              <a:t>1</a:t>
            </a:r>
            <a:endParaRPr kumimoji="1" lang="ko-KR" altLang="en-US" dirty="0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44E9E021-D07A-9546-A549-E6B7B30FA27B}"/>
              </a:ext>
            </a:extLst>
          </p:cNvPr>
          <p:cNvSpPr/>
          <p:nvPr/>
        </p:nvSpPr>
        <p:spPr>
          <a:xfrm>
            <a:off x="782782" y="988215"/>
            <a:ext cx="457200" cy="457200"/>
          </a:xfrm>
          <a:prstGeom prst="ellipse">
            <a:avLst/>
          </a:prstGeom>
          <a:ln w="28575">
            <a:solidFill>
              <a:srgbClr val="7030A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dirty="0"/>
              <a:t>2</a:t>
            </a:r>
            <a:endParaRPr kumimoji="1" lang="ko-KR" altLang="en-US" dirty="0"/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3F236B90-FC48-644A-B63E-571B28F3F3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4827725"/>
              </p:ext>
            </p:extLst>
          </p:nvPr>
        </p:nvGraphicFramePr>
        <p:xfrm>
          <a:off x="6470073" y="249381"/>
          <a:ext cx="5370946" cy="2626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1382">
                  <a:extLst>
                    <a:ext uri="{9D8B030D-6E8A-4147-A177-3AD203B41FA5}">
                      <a16:colId xmlns:a16="http://schemas.microsoft.com/office/drawing/2014/main" val="1084392719"/>
                    </a:ext>
                  </a:extLst>
                </a:gridCol>
                <a:gridCol w="4359564">
                  <a:extLst>
                    <a:ext uri="{9D8B030D-6E8A-4147-A177-3AD203B41FA5}">
                      <a16:colId xmlns:a16="http://schemas.microsoft.com/office/drawing/2014/main" val="1786874928"/>
                    </a:ext>
                  </a:extLst>
                </a:gridCol>
              </a:tblGrid>
              <a:tr h="50707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번호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기능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2269710"/>
                  </a:ext>
                </a:extLst>
              </a:tr>
              <a:tr h="105987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1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List : </a:t>
                      </a:r>
                      <a:r>
                        <a:rPr lang="ko-KR" altLang="en-US" sz="1200" dirty="0" err="1"/>
                        <a:t>푸쉬</a:t>
                      </a:r>
                      <a:r>
                        <a:rPr lang="ko-KR" altLang="en-US" sz="1200" dirty="0"/>
                        <a:t> 전송 목록</a:t>
                      </a:r>
                      <a:endParaRPr lang="en-US" altLang="ko-KR" sz="1200" dirty="0"/>
                    </a:p>
                    <a:p>
                      <a:pPr latinLnBrk="1"/>
                      <a:r>
                        <a:rPr lang="en-US" altLang="ko-KR" sz="1200" dirty="0"/>
                        <a:t>Schedule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:</a:t>
                      </a:r>
                      <a:r>
                        <a:rPr lang="ko-KR" altLang="en-US" sz="1200" dirty="0"/>
                        <a:t> 현재 등록된 </a:t>
                      </a:r>
                      <a:r>
                        <a:rPr lang="ko-KR" altLang="en-US" sz="1200" dirty="0" err="1"/>
                        <a:t>푸쉬</a:t>
                      </a:r>
                      <a:r>
                        <a:rPr lang="ko-KR" altLang="en-US" sz="1200" dirty="0"/>
                        <a:t> 스케줄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5739453"/>
                  </a:ext>
                </a:extLst>
              </a:tr>
              <a:tr h="105987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2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제목</a:t>
                      </a:r>
                      <a:r>
                        <a:rPr lang="en-US" altLang="ko-KR" sz="1200" dirty="0"/>
                        <a:t>,</a:t>
                      </a:r>
                      <a:r>
                        <a:rPr lang="ko-KR" altLang="en-US" sz="1200" dirty="0"/>
                        <a:t> 요일</a:t>
                      </a:r>
                      <a:r>
                        <a:rPr lang="en-US" altLang="ko-KR" sz="1200" dirty="0"/>
                        <a:t>,</a:t>
                      </a:r>
                      <a:r>
                        <a:rPr lang="ko-KR" altLang="en-US" sz="1200" dirty="0"/>
                        <a:t> 시간 표시</a:t>
                      </a:r>
                      <a:endParaRPr lang="en-US" altLang="ko-KR" sz="120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Edit : </a:t>
                      </a:r>
                      <a:r>
                        <a:rPr lang="en-US" altLang="ko-KR" sz="1200" dirty="0" err="1"/>
                        <a:t>Scheduiling</a:t>
                      </a:r>
                      <a:r>
                        <a:rPr lang="en-US" altLang="ko-KR" sz="1200" dirty="0"/>
                        <a:t> </a:t>
                      </a:r>
                      <a:r>
                        <a:rPr lang="ko-KR" altLang="en-US" sz="1200" dirty="0"/>
                        <a:t>설정 페이지로 이동하며 설정된 내용으로 자동 채우기</a:t>
                      </a:r>
                      <a:endParaRPr lang="en-US" altLang="ko-KR" sz="120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Del : </a:t>
                      </a:r>
                      <a:r>
                        <a:rPr lang="ko-KR" altLang="en-US" sz="1200" dirty="0"/>
                        <a:t>삭제 확인 창 생성 후 해당 전송 내용 삭제</a:t>
                      </a:r>
                      <a:endParaRPr lang="en-US" altLang="ko-K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746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41804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CE92B82-C12B-7140-9182-63EC0E54AEBC}"/>
              </a:ext>
            </a:extLst>
          </p:cNvPr>
          <p:cNvSpPr/>
          <p:nvPr/>
        </p:nvSpPr>
        <p:spPr>
          <a:xfrm>
            <a:off x="886691" y="249381"/>
            <a:ext cx="4156364" cy="6359237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947703B-A8C3-4C4D-A155-4D5AD278911B}"/>
              </a:ext>
            </a:extLst>
          </p:cNvPr>
          <p:cNvSpPr/>
          <p:nvPr/>
        </p:nvSpPr>
        <p:spPr>
          <a:xfrm>
            <a:off x="886691" y="249381"/>
            <a:ext cx="4156364" cy="457201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Noti</a:t>
            </a:r>
            <a:endParaRPr kumimoji="1"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89ACD3EF-5392-794F-8AF3-C021B571EF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9580467"/>
              </p:ext>
            </p:extLst>
          </p:nvPr>
        </p:nvGraphicFramePr>
        <p:xfrm>
          <a:off x="886691" y="6151417"/>
          <a:ext cx="4156364" cy="457201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039091">
                  <a:extLst>
                    <a:ext uri="{9D8B030D-6E8A-4147-A177-3AD203B41FA5}">
                      <a16:colId xmlns:a16="http://schemas.microsoft.com/office/drawing/2014/main" val="275485686"/>
                    </a:ext>
                  </a:extLst>
                </a:gridCol>
                <a:gridCol w="1039091">
                  <a:extLst>
                    <a:ext uri="{9D8B030D-6E8A-4147-A177-3AD203B41FA5}">
                      <a16:colId xmlns:a16="http://schemas.microsoft.com/office/drawing/2014/main" val="240881608"/>
                    </a:ext>
                  </a:extLst>
                </a:gridCol>
                <a:gridCol w="1039091">
                  <a:extLst>
                    <a:ext uri="{9D8B030D-6E8A-4147-A177-3AD203B41FA5}">
                      <a16:colId xmlns:a16="http://schemas.microsoft.com/office/drawing/2014/main" val="3157163294"/>
                    </a:ext>
                  </a:extLst>
                </a:gridCol>
                <a:gridCol w="1039091">
                  <a:extLst>
                    <a:ext uri="{9D8B030D-6E8A-4147-A177-3AD203B41FA5}">
                      <a16:colId xmlns:a16="http://schemas.microsoft.com/office/drawing/2014/main" val="4148719735"/>
                    </a:ext>
                  </a:extLst>
                </a:gridCol>
              </a:tblGrid>
              <a:tr h="45720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/>
                        <a:t>Noti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Schedule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List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Setting</a:t>
                      </a:r>
                      <a:endParaRPr lang="ko-KR" altLang="en-US" sz="14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8061045"/>
                  </a:ext>
                </a:extLst>
              </a:tr>
            </a:tbl>
          </a:graphicData>
        </a:graphic>
      </p:graphicFrame>
      <p:sp>
        <p:nvSpPr>
          <p:cNvPr id="3" name="타원 2">
            <a:extLst>
              <a:ext uri="{FF2B5EF4-FFF2-40B4-BE49-F238E27FC236}">
                <a16:creationId xmlns:a16="http://schemas.microsoft.com/office/drawing/2014/main" id="{861A85F3-3F5D-8941-AE09-34BE21F13631}"/>
              </a:ext>
            </a:extLst>
          </p:cNvPr>
          <p:cNvSpPr/>
          <p:nvPr/>
        </p:nvSpPr>
        <p:spPr>
          <a:xfrm>
            <a:off x="2272145" y="997527"/>
            <a:ext cx="1371600" cy="1371600"/>
          </a:xfrm>
          <a:prstGeom prst="ellips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dirty="0" err="1"/>
              <a:t>img</a:t>
            </a:r>
            <a:endParaRPr kumimoji="1"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93AD23-5AD1-934D-888D-0B4F8EB7538B}"/>
              </a:ext>
            </a:extLst>
          </p:cNvPr>
          <p:cNvSpPr txBox="1"/>
          <p:nvPr/>
        </p:nvSpPr>
        <p:spPr>
          <a:xfrm>
            <a:off x="1136073" y="2521527"/>
            <a:ext cx="3740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dirty="0"/>
              <a:t>이미지 변경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726738-6622-F846-B9D0-802C91103A9C}"/>
              </a:ext>
            </a:extLst>
          </p:cNvPr>
          <p:cNvSpPr txBox="1"/>
          <p:nvPr/>
        </p:nvSpPr>
        <p:spPr>
          <a:xfrm>
            <a:off x="1011382" y="3089565"/>
            <a:ext cx="12607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dirty="0"/>
              <a:t>언어 설정</a:t>
            </a: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0283B16A-4DED-A04D-B11A-42BA2DBB1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2491607"/>
              </p:ext>
            </p:extLst>
          </p:nvPr>
        </p:nvGraphicFramePr>
        <p:xfrm>
          <a:off x="6470073" y="249381"/>
          <a:ext cx="5370946" cy="4746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1382">
                  <a:extLst>
                    <a:ext uri="{9D8B030D-6E8A-4147-A177-3AD203B41FA5}">
                      <a16:colId xmlns:a16="http://schemas.microsoft.com/office/drawing/2014/main" val="1084392719"/>
                    </a:ext>
                  </a:extLst>
                </a:gridCol>
                <a:gridCol w="4359564">
                  <a:extLst>
                    <a:ext uri="{9D8B030D-6E8A-4147-A177-3AD203B41FA5}">
                      <a16:colId xmlns:a16="http://schemas.microsoft.com/office/drawing/2014/main" val="1786874928"/>
                    </a:ext>
                  </a:extLst>
                </a:gridCol>
              </a:tblGrid>
              <a:tr h="50707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번호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기능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2269710"/>
                  </a:ext>
                </a:extLst>
              </a:tr>
              <a:tr h="105987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1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현재 등록된 이미지 </a:t>
                      </a:r>
                      <a:r>
                        <a:rPr lang="ko-KR" altLang="en-US" sz="1200" dirty="0" err="1"/>
                        <a:t>미리보기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5739453"/>
                  </a:ext>
                </a:extLst>
              </a:tr>
              <a:tr h="105987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2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 err="1"/>
                        <a:t>푸쉬</a:t>
                      </a:r>
                      <a:r>
                        <a:rPr lang="ko-KR" altLang="en-US" sz="1200" dirty="0"/>
                        <a:t> 알림에 사용 될 이미지 등록 및 변경</a:t>
                      </a:r>
                      <a:endParaRPr lang="en-US" altLang="ko-K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74650"/>
                  </a:ext>
                </a:extLst>
              </a:tr>
              <a:tr h="105987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3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언어설정 페이지 이동</a:t>
                      </a:r>
                      <a:endParaRPr lang="en-US" altLang="ko-KR" sz="120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-</a:t>
                      </a:r>
                      <a:r>
                        <a:rPr lang="ko-KR" altLang="en-US" sz="1200" dirty="0"/>
                        <a:t> 우측에는 현재 설정된 정보 표시</a:t>
                      </a:r>
                      <a:endParaRPr lang="en-US" altLang="ko-K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5301569"/>
                  </a:ext>
                </a:extLst>
              </a:tr>
              <a:tr h="105987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4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로그아웃 및 데이터 초기화</a:t>
                      </a:r>
                      <a:endParaRPr lang="en-US" altLang="ko-K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7655578"/>
                  </a:ext>
                </a:extLst>
              </a:tr>
            </a:tbl>
          </a:graphicData>
        </a:graphic>
      </p:graphicFrame>
      <p:sp>
        <p:nvSpPr>
          <p:cNvPr id="14" name="타원 13">
            <a:extLst>
              <a:ext uri="{FF2B5EF4-FFF2-40B4-BE49-F238E27FC236}">
                <a16:creationId xmlns:a16="http://schemas.microsoft.com/office/drawing/2014/main" id="{A253534F-7F02-F64A-AA45-EBAA3C07E220}"/>
              </a:ext>
            </a:extLst>
          </p:cNvPr>
          <p:cNvSpPr/>
          <p:nvPr/>
        </p:nvSpPr>
        <p:spPr>
          <a:xfrm>
            <a:off x="2043545" y="798821"/>
            <a:ext cx="457200" cy="457200"/>
          </a:xfrm>
          <a:prstGeom prst="ellipse">
            <a:avLst/>
          </a:prstGeom>
          <a:ln w="28575">
            <a:solidFill>
              <a:srgbClr val="7030A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dirty="0"/>
              <a:t>1</a:t>
            </a:r>
            <a:endParaRPr kumimoji="1" lang="ko-KR" altLang="en-US" dirty="0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83EC89EC-9365-AA43-9079-68C9B8120831}"/>
              </a:ext>
            </a:extLst>
          </p:cNvPr>
          <p:cNvSpPr/>
          <p:nvPr/>
        </p:nvSpPr>
        <p:spPr>
          <a:xfrm>
            <a:off x="2043545" y="2221285"/>
            <a:ext cx="457200" cy="457200"/>
          </a:xfrm>
          <a:prstGeom prst="ellipse">
            <a:avLst/>
          </a:prstGeom>
          <a:ln w="28575">
            <a:solidFill>
              <a:srgbClr val="7030A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dirty="0"/>
              <a:t>2</a:t>
            </a:r>
            <a:endParaRPr kumimoji="1" lang="ko-KR" altLang="en-US" dirty="0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8742CA1F-4F3B-7D4C-9C79-9194E60F68C9}"/>
              </a:ext>
            </a:extLst>
          </p:cNvPr>
          <p:cNvSpPr/>
          <p:nvPr/>
        </p:nvSpPr>
        <p:spPr>
          <a:xfrm>
            <a:off x="803563" y="2761612"/>
            <a:ext cx="457200" cy="457200"/>
          </a:xfrm>
          <a:prstGeom prst="ellipse">
            <a:avLst/>
          </a:prstGeom>
          <a:ln w="28575">
            <a:solidFill>
              <a:srgbClr val="7030A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dirty="0"/>
              <a:t>3</a:t>
            </a:r>
            <a:endParaRPr kumimoji="1"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7FF5BF1-8DF4-9A4B-8476-82C20254312C}"/>
              </a:ext>
            </a:extLst>
          </p:cNvPr>
          <p:cNvSpPr txBox="1"/>
          <p:nvPr/>
        </p:nvSpPr>
        <p:spPr>
          <a:xfrm>
            <a:off x="3449782" y="3089565"/>
            <a:ext cx="12607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dirty="0"/>
              <a:t>한국어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E1E92EF-9BDB-AD42-8605-95A5D8C26245}"/>
              </a:ext>
            </a:extLst>
          </p:cNvPr>
          <p:cNvSpPr txBox="1"/>
          <p:nvPr/>
        </p:nvSpPr>
        <p:spPr>
          <a:xfrm>
            <a:off x="3968763" y="293315"/>
            <a:ext cx="12607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dirty="0"/>
              <a:t>로그아웃</a:t>
            </a: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9D852AC0-4E34-B04F-9684-EA1B68F0BD53}"/>
              </a:ext>
            </a:extLst>
          </p:cNvPr>
          <p:cNvSpPr/>
          <p:nvPr/>
        </p:nvSpPr>
        <p:spPr>
          <a:xfrm>
            <a:off x="3643745" y="40691"/>
            <a:ext cx="457200" cy="457200"/>
          </a:xfrm>
          <a:prstGeom prst="ellipse">
            <a:avLst/>
          </a:prstGeom>
          <a:ln w="28575">
            <a:solidFill>
              <a:srgbClr val="7030A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dirty="0"/>
              <a:t>4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084994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CE92B82-C12B-7140-9182-63EC0E54AEBC}"/>
              </a:ext>
            </a:extLst>
          </p:cNvPr>
          <p:cNvSpPr/>
          <p:nvPr/>
        </p:nvSpPr>
        <p:spPr>
          <a:xfrm>
            <a:off x="886691" y="249381"/>
            <a:ext cx="4156364" cy="6359237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947703B-A8C3-4C4D-A155-4D5AD278911B}"/>
              </a:ext>
            </a:extLst>
          </p:cNvPr>
          <p:cNvSpPr/>
          <p:nvPr/>
        </p:nvSpPr>
        <p:spPr>
          <a:xfrm>
            <a:off x="886691" y="249381"/>
            <a:ext cx="4156364" cy="457201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Noti</a:t>
            </a:r>
            <a:endParaRPr kumimoji="1"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89ACD3EF-5392-794F-8AF3-C021B571EF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6776411"/>
              </p:ext>
            </p:extLst>
          </p:nvPr>
        </p:nvGraphicFramePr>
        <p:xfrm>
          <a:off x="886691" y="6151417"/>
          <a:ext cx="4156364" cy="457201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039091">
                  <a:extLst>
                    <a:ext uri="{9D8B030D-6E8A-4147-A177-3AD203B41FA5}">
                      <a16:colId xmlns:a16="http://schemas.microsoft.com/office/drawing/2014/main" val="275485686"/>
                    </a:ext>
                  </a:extLst>
                </a:gridCol>
                <a:gridCol w="1039091">
                  <a:extLst>
                    <a:ext uri="{9D8B030D-6E8A-4147-A177-3AD203B41FA5}">
                      <a16:colId xmlns:a16="http://schemas.microsoft.com/office/drawing/2014/main" val="240881608"/>
                    </a:ext>
                  </a:extLst>
                </a:gridCol>
                <a:gridCol w="1039091">
                  <a:extLst>
                    <a:ext uri="{9D8B030D-6E8A-4147-A177-3AD203B41FA5}">
                      <a16:colId xmlns:a16="http://schemas.microsoft.com/office/drawing/2014/main" val="3157163294"/>
                    </a:ext>
                  </a:extLst>
                </a:gridCol>
                <a:gridCol w="1039091">
                  <a:extLst>
                    <a:ext uri="{9D8B030D-6E8A-4147-A177-3AD203B41FA5}">
                      <a16:colId xmlns:a16="http://schemas.microsoft.com/office/drawing/2014/main" val="4148719735"/>
                    </a:ext>
                  </a:extLst>
                </a:gridCol>
              </a:tblGrid>
              <a:tr h="45720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/>
                        <a:t>Noti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Schedule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List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Setting</a:t>
                      </a:r>
                      <a:endParaRPr lang="ko-KR" altLang="en-US" sz="14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8061045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1262B1CB-4DF4-DC4A-9F0C-AA0564E5828F}"/>
              </a:ext>
            </a:extLst>
          </p:cNvPr>
          <p:cNvSpPr/>
          <p:nvPr/>
        </p:nvSpPr>
        <p:spPr>
          <a:xfrm>
            <a:off x="1011382" y="872837"/>
            <a:ext cx="3893127" cy="41563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ko-KR" altLang="en-US" dirty="0"/>
              <a:t>한국어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15096B8-A311-124B-AFD2-9AED8AF1E30D}"/>
              </a:ext>
            </a:extLst>
          </p:cNvPr>
          <p:cNvSpPr/>
          <p:nvPr/>
        </p:nvSpPr>
        <p:spPr>
          <a:xfrm>
            <a:off x="1011382" y="1288473"/>
            <a:ext cx="3893127" cy="41563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en-US" altLang="ko-KR" dirty="0"/>
              <a:t>English</a:t>
            </a:r>
            <a:endParaRPr kumimoji="1"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72A713A-DC9E-F741-8BE4-C3A5C741FA46}"/>
              </a:ext>
            </a:extLst>
          </p:cNvPr>
          <p:cNvSpPr/>
          <p:nvPr/>
        </p:nvSpPr>
        <p:spPr>
          <a:xfrm>
            <a:off x="1025236" y="263232"/>
            <a:ext cx="484909" cy="41563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sz="1050" dirty="0"/>
              <a:t>back</a:t>
            </a:r>
            <a:endParaRPr kumimoji="1" lang="ko-KR" altLang="en-US" sz="1050" dirty="0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F56A9519-F8C8-AB42-88BB-D1D4F6478D48}"/>
              </a:ext>
            </a:extLst>
          </p:cNvPr>
          <p:cNvSpPr/>
          <p:nvPr/>
        </p:nvSpPr>
        <p:spPr>
          <a:xfrm>
            <a:off x="782782" y="-86596"/>
            <a:ext cx="457200" cy="457200"/>
          </a:xfrm>
          <a:prstGeom prst="ellipse">
            <a:avLst/>
          </a:prstGeom>
          <a:ln w="28575">
            <a:solidFill>
              <a:srgbClr val="7030A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dirty="0"/>
              <a:t>2</a:t>
            </a:r>
            <a:endParaRPr kumimoji="1" lang="ko-KR" altLang="en-US" dirty="0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7FC8C4DD-9C24-1047-A55D-D7A94221ED74}"/>
              </a:ext>
            </a:extLst>
          </p:cNvPr>
          <p:cNvSpPr/>
          <p:nvPr/>
        </p:nvSpPr>
        <p:spPr>
          <a:xfrm>
            <a:off x="803563" y="557646"/>
            <a:ext cx="457200" cy="457200"/>
          </a:xfrm>
          <a:prstGeom prst="ellipse">
            <a:avLst/>
          </a:prstGeom>
          <a:ln w="28575">
            <a:solidFill>
              <a:srgbClr val="7030A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dirty="0"/>
              <a:t>1</a:t>
            </a:r>
            <a:endParaRPr kumimoji="1" lang="ko-KR" altLang="en-US" dirty="0"/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436654A9-29F4-764C-8717-CD1B051DE4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5000093"/>
              </p:ext>
            </p:extLst>
          </p:nvPr>
        </p:nvGraphicFramePr>
        <p:xfrm>
          <a:off x="6470073" y="249381"/>
          <a:ext cx="5370946" cy="2626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1382">
                  <a:extLst>
                    <a:ext uri="{9D8B030D-6E8A-4147-A177-3AD203B41FA5}">
                      <a16:colId xmlns:a16="http://schemas.microsoft.com/office/drawing/2014/main" val="1084392719"/>
                    </a:ext>
                  </a:extLst>
                </a:gridCol>
                <a:gridCol w="4359564">
                  <a:extLst>
                    <a:ext uri="{9D8B030D-6E8A-4147-A177-3AD203B41FA5}">
                      <a16:colId xmlns:a16="http://schemas.microsoft.com/office/drawing/2014/main" val="1786874928"/>
                    </a:ext>
                  </a:extLst>
                </a:gridCol>
              </a:tblGrid>
              <a:tr h="50707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번호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기능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2269710"/>
                  </a:ext>
                </a:extLst>
              </a:tr>
              <a:tr h="105987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1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현재 등록된 이미지 </a:t>
                      </a:r>
                      <a:r>
                        <a:rPr lang="ko-KR" altLang="en-US" sz="1200" dirty="0" err="1"/>
                        <a:t>미리보기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5739453"/>
                  </a:ext>
                </a:extLst>
              </a:tr>
              <a:tr h="105987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2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 err="1"/>
                        <a:t>푸쉬</a:t>
                      </a:r>
                      <a:r>
                        <a:rPr lang="ko-KR" altLang="en-US" sz="1200" dirty="0"/>
                        <a:t> 알림에 사용 될 이미지 등록 및 변경</a:t>
                      </a:r>
                      <a:endParaRPr lang="en-US" altLang="ko-K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746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2425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CE92B82-C12B-7140-9182-63EC0E54AEBC}"/>
              </a:ext>
            </a:extLst>
          </p:cNvPr>
          <p:cNvSpPr/>
          <p:nvPr/>
        </p:nvSpPr>
        <p:spPr>
          <a:xfrm>
            <a:off x="886691" y="249381"/>
            <a:ext cx="4156364" cy="6359237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5BDEF56-B713-6A42-8B82-D11ED146C9C5}"/>
              </a:ext>
            </a:extLst>
          </p:cNvPr>
          <p:cNvSpPr/>
          <p:nvPr/>
        </p:nvSpPr>
        <p:spPr>
          <a:xfrm>
            <a:off x="1011382" y="3428999"/>
            <a:ext cx="3893127" cy="41563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dirty="0"/>
              <a:t>ID</a:t>
            </a:r>
            <a:endParaRPr kumimoji="1"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B295CDF-8759-914F-9ADE-3CCF1273F2FF}"/>
              </a:ext>
            </a:extLst>
          </p:cNvPr>
          <p:cNvSpPr/>
          <p:nvPr/>
        </p:nvSpPr>
        <p:spPr>
          <a:xfrm>
            <a:off x="1011382" y="4114796"/>
            <a:ext cx="3893127" cy="41563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dirty="0"/>
              <a:t>Password</a:t>
            </a:r>
            <a:endParaRPr kumimoji="1" lang="ko-KR" altLang="en-US" dirty="0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D49B2D86-3E62-7A4B-8788-BB360A9C3855}"/>
              </a:ext>
            </a:extLst>
          </p:cNvPr>
          <p:cNvSpPr/>
          <p:nvPr/>
        </p:nvSpPr>
        <p:spPr>
          <a:xfrm>
            <a:off x="2272145" y="1236519"/>
            <a:ext cx="1371600" cy="1371600"/>
          </a:xfrm>
          <a:prstGeom prst="ellips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dirty="0"/>
              <a:t>Logo</a:t>
            </a:r>
            <a:endParaRPr kumimoji="1"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CA2C63-CED1-2243-B249-BE428A515E62}"/>
              </a:ext>
            </a:extLst>
          </p:cNvPr>
          <p:cNvSpPr txBox="1"/>
          <p:nvPr/>
        </p:nvSpPr>
        <p:spPr>
          <a:xfrm>
            <a:off x="1911928" y="5110046"/>
            <a:ext cx="25215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Forgot password?</a:t>
            </a:r>
            <a:endParaRPr kumimoji="1"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5C2BCB-1B47-714B-9A52-F484175C2F96}"/>
              </a:ext>
            </a:extLst>
          </p:cNvPr>
          <p:cNvSpPr txBox="1"/>
          <p:nvPr/>
        </p:nvSpPr>
        <p:spPr>
          <a:xfrm>
            <a:off x="2424545" y="5567435"/>
            <a:ext cx="10667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Sign up</a:t>
            </a:r>
            <a:endParaRPr kumimoji="1"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0346BA-B787-5E4F-BE74-776599635A29}"/>
              </a:ext>
            </a:extLst>
          </p:cNvPr>
          <p:cNvSpPr txBox="1"/>
          <p:nvPr/>
        </p:nvSpPr>
        <p:spPr>
          <a:xfrm>
            <a:off x="1392383" y="4610328"/>
            <a:ext cx="2909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Remember me</a:t>
            </a:r>
            <a:endParaRPr kumimoji="1"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A64217-08BC-1143-99B3-C817BFE0C7A5}"/>
              </a:ext>
            </a:extLst>
          </p:cNvPr>
          <p:cNvSpPr txBox="1"/>
          <p:nvPr/>
        </p:nvSpPr>
        <p:spPr>
          <a:xfrm>
            <a:off x="4059383" y="4610328"/>
            <a:ext cx="983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Sign in</a:t>
            </a:r>
            <a:endParaRPr kumimoji="1" lang="ko-KR" altLang="en-US" dirty="0"/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124A6A2F-85C6-A645-BC26-C0C0BC4A1A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2774962"/>
              </p:ext>
            </p:extLst>
          </p:nvPr>
        </p:nvGraphicFramePr>
        <p:xfrm>
          <a:off x="6470073" y="249382"/>
          <a:ext cx="5370946" cy="56892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1382">
                  <a:extLst>
                    <a:ext uri="{9D8B030D-6E8A-4147-A177-3AD203B41FA5}">
                      <a16:colId xmlns:a16="http://schemas.microsoft.com/office/drawing/2014/main" val="1084392719"/>
                    </a:ext>
                  </a:extLst>
                </a:gridCol>
                <a:gridCol w="4359564">
                  <a:extLst>
                    <a:ext uri="{9D8B030D-6E8A-4147-A177-3AD203B41FA5}">
                      <a16:colId xmlns:a16="http://schemas.microsoft.com/office/drawing/2014/main" val="1786874928"/>
                    </a:ext>
                  </a:extLst>
                </a:gridCol>
              </a:tblGrid>
              <a:tr h="36385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번호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기능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2269710"/>
                  </a:ext>
                </a:extLst>
              </a:tr>
              <a:tr h="76050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1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err="1"/>
                        <a:t>NotiNoti</a:t>
                      </a:r>
                      <a:r>
                        <a:rPr lang="en-US" altLang="ko-KR" sz="1200" dirty="0"/>
                        <a:t> </a:t>
                      </a:r>
                      <a:r>
                        <a:rPr lang="ko-KR" altLang="en-US" sz="1200" dirty="0"/>
                        <a:t>로고 표시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5739453"/>
                  </a:ext>
                </a:extLst>
              </a:tr>
              <a:tr h="76050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2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ID </a:t>
                      </a:r>
                      <a:r>
                        <a:rPr lang="ko-KR" altLang="en-US" sz="1200" dirty="0"/>
                        <a:t>입력</a:t>
                      </a:r>
                      <a:endParaRPr lang="en-US" altLang="ko-KR" sz="120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-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Email </a:t>
                      </a:r>
                      <a:r>
                        <a:rPr lang="ko-KR" altLang="en-US" sz="1200" dirty="0"/>
                        <a:t>양식</a:t>
                      </a:r>
                      <a:endParaRPr lang="en-US" altLang="ko-K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74650"/>
                  </a:ext>
                </a:extLst>
              </a:tr>
              <a:tr h="76050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3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비밀번호 입력</a:t>
                      </a:r>
                      <a:endParaRPr lang="en-US" altLang="ko-K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5301569"/>
                  </a:ext>
                </a:extLst>
              </a:tr>
              <a:tr h="76050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4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아이디</a:t>
                      </a:r>
                      <a:r>
                        <a:rPr lang="en-US" altLang="ko-KR" sz="1200" dirty="0"/>
                        <a:t>,</a:t>
                      </a:r>
                      <a:r>
                        <a:rPr lang="ko-KR" altLang="en-US" sz="1200" dirty="0"/>
                        <a:t> 비밀번호 저장</a:t>
                      </a:r>
                      <a:endParaRPr lang="en-US" altLang="ko-KR" sz="120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–</a:t>
                      </a:r>
                      <a:r>
                        <a:rPr lang="ko-KR" altLang="en-US" sz="1200" dirty="0"/>
                        <a:t> </a:t>
                      </a:r>
                      <a:r>
                        <a:rPr lang="ko-KR" altLang="en-US" sz="1200" dirty="0" err="1"/>
                        <a:t>어플</a:t>
                      </a:r>
                      <a:r>
                        <a:rPr lang="ko-KR" altLang="en-US" sz="1200" dirty="0"/>
                        <a:t> 내부 데이터 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캐시</a:t>
                      </a:r>
                      <a:r>
                        <a:rPr lang="en-US" altLang="ko-KR" sz="120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065578"/>
                  </a:ext>
                </a:extLst>
              </a:tr>
              <a:tr h="76050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5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Firebase</a:t>
                      </a:r>
                      <a:r>
                        <a:rPr lang="ko-KR" altLang="en-US" sz="1200" dirty="0"/>
                        <a:t> 로그인 시도</a:t>
                      </a:r>
                      <a:endParaRPr lang="en-US" altLang="ko-KR" sz="1200" dirty="0"/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200" dirty="0"/>
                        <a:t>성공 시 </a:t>
                      </a:r>
                      <a:r>
                        <a:rPr lang="en-US" altLang="ko-KR" sz="1200" dirty="0" err="1"/>
                        <a:t>Noti</a:t>
                      </a:r>
                      <a:r>
                        <a:rPr lang="ko-KR" altLang="en-US" sz="1200" dirty="0"/>
                        <a:t> 전송 화면으로 이동</a:t>
                      </a:r>
                      <a:endParaRPr lang="en-US" altLang="ko-KR" sz="1200" dirty="0"/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200" dirty="0"/>
                        <a:t>실패 시 </a:t>
                      </a:r>
                      <a:r>
                        <a:rPr lang="ko-KR" altLang="en-US" sz="1200" dirty="0" err="1"/>
                        <a:t>경고창</a:t>
                      </a:r>
                      <a:r>
                        <a:rPr lang="ko-KR" altLang="en-US" sz="1200" dirty="0"/>
                        <a:t> 생성 및 폼 초기화</a:t>
                      </a:r>
                      <a:endParaRPr lang="en-US" altLang="ko-K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7892027"/>
                  </a:ext>
                </a:extLst>
              </a:tr>
              <a:tr h="76050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6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비밀번호 찾기 페이지 이동</a:t>
                      </a:r>
                      <a:endParaRPr lang="en-US" altLang="ko-K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1290937"/>
                  </a:ext>
                </a:extLst>
              </a:tr>
              <a:tr h="76050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7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회원가입 페이지 이동</a:t>
                      </a:r>
                      <a:endParaRPr lang="en-US" altLang="ko-K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6444113"/>
                  </a:ext>
                </a:extLst>
              </a:tr>
            </a:tbl>
          </a:graphicData>
        </a:graphic>
      </p:graphicFrame>
      <p:sp>
        <p:nvSpPr>
          <p:cNvPr id="15" name="타원 14">
            <a:extLst>
              <a:ext uri="{FF2B5EF4-FFF2-40B4-BE49-F238E27FC236}">
                <a16:creationId xmlns:a16="http://schemas.microsoft.com/office/drawing/2014/main" id="{CB19ECFA-557F-014D-8F04-6E1C651E3237}"/>
              </a:ext>
            </a:extLst>
          </p:cNvPr>
          <p:cNvSpPr/>
          <p:nvPr/>
        </p:nvSpPr>
        <p:spPr>
          <a:xfrm>
            <a:off x="2043545" y="963891"/>
            <a:ext cx="457200" cy="457200"/>
          </a:xfrm>
          <a:prstGeom prst="ellipse">
            <a:avLst/>
          </a:prstGeom>
          <a:ln w="28575">
            <a:solidFill>
              <a:srgbClr val="7030A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dirty="0"/>
              <a:t>1</a:t>
            </a:r>
            <a:endParaRPr kumimoji="1" lang="ko-KR" altLang="en-US" dirty="0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2658039E-496B-2448-8CDF-0FF70A8A1648}"/>
              </a:ext>
            </a:extLst>
          </p:cNvPr>
          <p:cNvSpPr/>
          <p:nvPr/>
        </p:nvSpPr>
        <p:spPr>
          <a:xfrm>
            <a:off x="720437" y="3103461"/>
            <a:ext cx="457200" cy="457200"/>
          </a:xfrm>
          <a:prstGeom prst="ellipse">
            <a:avLst/>
          </a:prstGeom>
          <a:ln w="28575">
            <a:solidFill>
              <a:srgbClr val="7030A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dirty="0"/>
              <a:t>2</a:t>
            </a:r>
            <a:endParaRPr kumimoji="1" lang="ko-KR" altLang="en-US" dirty="0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69A3C4BC-9561-FE42-B2D9-0235E94BD228}"/>
              </a:ext>
            </a:extLst>
          </p:cNvPr>
          <p:cNvSpPr/>
          <p:nvPr/>
        </p:nvSpPr>
        <p:spPr>
          <a:xfrm>
            <a:off x="720437" y="3865414"/>
            <a:ext cx="457200" cy="457200"/>
          </a:xfrm>
          <a:prstGeom prst="ellipse">
            <a:avLst/>
          </a:prstGeom>
          <a:ln w="28575">
            <a:solidFill>
              <a:srgbClr val="7030A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dirty="0"/>
              <a:t>3</a:t>
            </a:r>
            <a:endParaRPr kumimoji="1" lang="ko-KR" altLang="en-US" dirty="0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77A2230D-1996-9C40-A61A-47CF784CFCDA}"/>
              </a:ext>
            </a:extLst>
          </p:cNvPr>
          <p:cNvSpPr/>
          <p:nvPr/>
        </p:nvSpPr>
        <p:spPr>
          <a:xfrm>
            <a:off x="720437" y="4337794"/>
            <a:ext cx="457200" cy="457200"/>
          </a:xfrm>
          <a:prstGeom prst="ellipse">
            <a:avLst/>
          </a:prstGeom>
          <a:ln w="28575">
            <a:solidFill>
              <a:srgbClr val="7030A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dirty="0"/>
              <a:t>4</a:t>
            </a:r>
            <a:endParaRPr kumimoji="1" lang="ko-KR" altLang="en-US" dirty="0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4BC32F55-F8F3-4247-9E8A-6107B8255C45}"/>
              </a:ext>
            </a:extLst>
          </p:cNvPr>
          <p:cNvSpPr/>
          <p:nvPr/>
        </p:nvSpPr>
        <p:spPr>
          <a:xfrm>
            <a:off x="3692236" y="4337794"/>
            <a:ext cx="457200" cy="457200"/>
          </a:xfrm>
          <a:prstGeom prst="ellipse">
            <a:avLst/>
          </a:prstGeom>
          <a:ln w="28575">
            <a:solidFill>
              <a:srgbClr val="7030A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dirty="0"/>
              <a:t>5</a:t>
            </a:r>
            <a:endParaRPr kumimoji="1" lang="ko-KR" altLang="en-US" dirty="0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E486663C-2E57-514B-AA1B-33CA2F6EC49F}"/>
              </a:ext>
            </a:extLst>
          </p:cNvPr>
          <p:cNvSpPr/>
          <p:nvPr/>
        </p:nvSpPr>
        <p:spPr>
          <a:xfrm>
            <a:off x="1503218" y="5021989"/>
            <a:ext cx="457200" cy="457200"/>
          </a:xfrm>
          <a:prstGeom prst="ellipse">
            <a:avLst/>
          </a:prstGeom>
          <a:ln w="28575">
            <a:solidFill>
              <a:srgbClr val="7030A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dirty="0"/>
              <a:t>6</a:t>
            </a:r>
            <a:endParaRPr kumimoji="1" lang="ko-KR" altLang="en-US" dirty="0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ECD4A384-0A31-2345-8143-6EB2128AB115}"/>
              </a:ext>
            </a:extLst>
          </p:cNvPr>
          <p:cNvSpPr/>
          <p:nvPr/>
        </p:nvSpPr>
        <p:spPr>
          <a:xfrm>
            <a:off x="1988127" y="5523501"/>
            <a:ext cx="457200" cy="457200"/>
          </a:xfrm>
          <a:prstGeom prst="ellipse">
            <a:avLst/>
          </a:prstGeom>
          <a:ln w="28575">
            <a:solidFill>
              <a:srgbClr val="7030A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dirty="0"/>
              <a:t>7</a:t>
            </a:r>
            <a:endParaRPr kumimoji="1"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52EA98B-B7BA-B14D-8CB0-006F1EB52AFE}"/>
              </a:ext>
            </a:extLst>
          </p:cNvPr>
          <p:cNvSpPr/>
          <p:nvPr/>
        </p:nvSpPr>
        <p:spPr>
          <a:xfrm>
            <a:off x="1059875" y="4605448"/>
            <a:ext cx="325581" cy="32558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C8D34565-04C7-5C43-A1FF-D70AB61F0443}"/>
              </a:ext>
            </a:extLst>
          </p:cNvPr>
          <p:cNvSpPr/>
          <p:nvPr/>
        </p:nvSpPr>
        <p:spPr>
          <a:xfrm>
            <a:off x="1122217" y="4674723"/>
            <a:ext cx="207819" cy="2078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00087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CE92B82-C12B-7140-9182-63EC0E54AEBC}"/>
              </a:ext>
            </a:extLst>
          </p:cNvPr>
          <p:cNvSpPr/>
          <p:nvPr/>
        </p:nvSpPr>
        <p:spPr>
          <a:xfrm>
            <a:off x="886691" y="249381"/>
            <a:ext cx="4156364" cy="6359237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5BDEF56-B713-6A42-8B82-D11ED146C9C5}"/>
              </a:ext>
            </a:extLst>
          </p:cNvPr>
          <p:cNvSpPr/>
          <p:nvPr/>
        </p:nvSpPr>
        <p:spPr>
          <a:xfrm>
            <a:off x="1011382" y="1267831"/>
            <a:ext cx="3893127" cy="41563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dirty="0"/>
              <a:t>ID</a:t>
            </a:r>
            <a:endParaRPr kumimoji="1"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0346BA-B787-5E4F-BE74-776599635A29}"/>
              </a:ext>
            </a:extLst>
          </p:cNvPr>
          <p:cNvSpPr txBox="1"/>
          <p:nvPr/>
        </p:nvSpPr>
        <p:spPr>
          <a:xfrm>
            <a:off x="969818" y="775857"/>
            <a:ext cx="2909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Forgot Password</a:t>
            </a:r>
            <a:endParaRPr kumimoji="1"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A64217-08BC-1143-99B3-C817BFE0C7A5}"/>
              </a:ext>
            </a:extLst>
          </p:cNvPr>
          <p:cNvSpPr txBox="1"/>
          <p:nvPr/>
        </p:nvSpPr>
        <p:spPr>
          <a:xfrm>
            <a:off x="3906982" y="1786649"/>
            <a:ext cx="983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Send</a:t>
            </a:r>
            <a:endParaRPr kumimoji="1" lang="ko-KR" altLang="en-US" dirty="0"/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124A6A2F-85C6-A645-BC26-C0C0BC4A1A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8934814"/>
              </p:ext>
            </p:extLst>
          </p:nvPr>
        </p:nvGraphicFramePr>
        <p:xfrm>
          <a:off x="6470073" y="249382"/>
          <a:ext cx="5370946" cy="26472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1382">
                  <a:extLst>
                    <a:ext uri="{9D8B030D-6E8A-4147-A177-3AD203B41FA5}">
                      <a16:colId xmlns:a16="http://schemas.microsoft.com/office/drawing/2014/main" val="1084392719"/>
                    </a:ext>
                  </a:extLst>
                </a:gridCol>
                <a:gridCol w="4359564">
                  <a:extLst>
                    <a:ext uri="{9D8B030D-6E8A-4147-A177-3AD203B41FA5}">
                      <a16:colId xmlns:a16="http://schemas.microsoft.com/office/drawing/2014/main" val="1786874928"/>
                    </a:ext>
                  </a:extLst>
                </a:gridCol>
              </a:tblGrid>
              <a:tr h="36385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번호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기능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2269710"/>
                  </a:ext>
                </a:extLst>
              </a:tr>
              <a:tr h="76050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1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err="1"/>
                        <a:t>뒤로가기</a:t>
                      </a:r>
                      <a:r>
                        <a:rPr lang="ko-KR" altLang="en-US" sz="1200" dirty="0"/>
                        <a:t> 버튼</a:t>
                      </a:r>
                      <a:endParaRPr lang="en-US" altLang="ko-KR" sz="1200" dirty="0"/>
                    </a:p>
                    <a:p>
                      <a:pPr latinLnBrk="1"/>
                      <a:r>
                        <a:rPr lang="en-US" altLang="ko-KR" sz="1200" dirty="0"/>
                        <a:t>–</a:t>
                      </a:r>
                      <a:r>
                        <a:rPr lang="ko-KR" altLang="en-US" sz="1200" dirty="0"/>
                        <a:t> 로그인 페이지 이동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5739453"/>
                  </a:ext>
                </a:extLst>
              </a:tr>
              <a:tr h="76050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2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찾을 </a:t>
                      </a:r>
                      <a:r>
                        <a:rPr lang="en-US" altLang="ko-KR" sz="1200" dirty="0"/>
                        <a:t>ID </a:t>
                      </a:r>
                      <a:r>
                        <a:rPr lang="ko-KR" altLang="en-US" sz="1200" dirty="0"/>
                        <a:t>입력</a:t>
                      </a:r>
                      <a:endParaRPr lang="en-US" altLang="ko-KR" sz="120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-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Email </a:t>
                      </a:r>
                      <a:r>
                        <a:rPr lang="ko-KR" altLang="en-US" sz="1200" dirty="0"/>
                        <a:t>양식</a:t>
                      </a:r>
                      <a:endParaRPr lang="en-US" altLang="ko-K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74650"/>
                  </a:ext>
                </a:extLst>
              </a:tr>
              <a:tr h="76050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3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해당 </a:t>
                      </a:r>
                      <a:r>
                        <a:rPr lang="en-US" altLang="ko-KR" sz="1200" dirty="0"/>
                        <a:t>Email</a:t>
                      </a:r>
                      <a:r>
                        <a:rPr lang="ko-KR" altLang="en-US" sz="1200" dirty="0"/>
                        <a:t>로 임시 비밀번호 전송</a:t>
                      </a:r>
                      <a:endParaRPr lang="en-US" altLang="ko-KR" sz="120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–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Firebase API </a:t>
                      </a:r>
                      <a:r>
                        <a:rPr lang="ko-KR" altLang="en-US" sz="1200" dirty="0"/>
                        <a:t>사용</a:t>
                      </a:r>
                      <a:endParaRPr lang="en-US" altLang="ko-K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5301569"/>
                  </a:ext>
                </a:extLst>
              </a:tr>
            </a:tbl>
          </a:graphicData>
        </a:graphic>
      </p:graphicFrame>
      <p:sp>
        <p:nvSpPr>
          <p:cNvPr id="23" name="직사각형 22">
            <a:extLst>
              <a:ext uri="{FF2B5EF4-FFF2-40B4-BE49-F238E27FC236}">
                <a16:creationId xmlns:a16="http://schemas.microsoft.com/office/drawing/2014/main" id="{4E011D9D-B7F5-C241-8378-558B452FE8B3}"/>
              </a:ext>
            </a:extLst>
          </p:cNvPr>
          <p:cNvSpPr/>
          <p:nvPr/>
        </p:nvSpPr>
        <p:spPr>
          <a:xfrm>
            <a:off x="886691" y="249381"/>
            <a:ext cx="4156364" cy="457201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Noti</a:t>
            </a:r>
            <a:endParaRPr kumimoji="1"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20C25A9-DC4F-6648-8F6A-204D51CBB4D0}"/>
              </a:ext>
            </a:extLst>
          </p:cNvPr>
          <p:cNvSpPr/>
          <p:nvPr/>
        </p:nvSpPr>
        <p:spPr>
          <a:xfrm>
            <a:off x="1025236" y="263232"/>
            <a:ext cx="484909" cy="41563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sz="1050" dirty="0"/>
              <a:t>back</a:t>
            </a:r>
            <a:endParaRPr kumimoji="1" lang="ko-KR" altLang="en-US" sz="1050" dirty="0"/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4E69A4D6-C54A-D843-AA19-0CC4472637DB}"/>
              </a:ext>
            </a:extLst>
          </p:cNvPr>
          <p:cNvSpPr/>
          <p:nvPr/>
        </p:nvSpPr>
        <p:spPr>
          <a:xfrm>
            <a:off x="658091" y="-68549"/>
            <a:ext cx="457200" cy="457200"/>
          </a:xfrm>
          <a:prstGeom prst="ellipse">
            <a:avLst/>
          </a:prstGeom>
          <a:ln w="28575">
            <a:solidFill>
              <a:srgbClr val="7030A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dirty="0"/>
              <a:t>1</a:t>
            </a:r>
            <a:endParaRPr kumimoji="1" lang="ko-KR" altLang="en-US" dirty="0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51F19E08-E3D3-0049-B465-6FC8304126EA}"/>
              </a:ext>
            </a:extLst>
          </p:cNvPr>
          <p:cNvSpPr/>
          <p:nvPr/>
        </p:nvSpPr>
        <p:spPr>
          <a:xfrm>
            <a:off x="658091" y="1056917"/>
            <a:ext cx="457200" cy="457200"/>
          </a:xfrm>
          <a:prstGeom prst="ellipse">
            <a:avLst/>
          </a:prstGeom>
          <a:ln w="28575">
            <a:solidFill>
              <a:srgbClr val="7030A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dirty="0"/>
              <a:t>2</a:t>
            </a:r>
            <a:endParaRPr kumimoji="1" lang="ko-KR" altLang="en-US" dirty="0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F72988FF-1DAA-4747-83F0-196FFB11FC03}"/>
              </a:ext>
            </a:extLst>
          </p:cNvPr>
          <p:cNvSpPr/>
          <p:nvPr/>
        </p:nvSpPr>
        <p:spPr>
          <a:xfrm>
            <a:off x="3449782" y="1742715"/>
            <a:ext cx="457200" cy="457200"/>
          </a:xfrm>
          <a:prstGeom prst="ellipse">
            <a:avLst/>
          </a:prstGeom>
          <a:ln w="28575">
            <a:solidFill>
              <a:srgbClr val="7030A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dirty="0"/>
              <a:t>3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718225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CE92B82-C12B-7140-9182-63EC0E54AEBC}"/>
              </a:ext>
            </a:extLst>
          </p:cNvPr>
          <p:cNvSpPr/>
          <p:nvPr/>
        </p:nvSpPr>
        <p:spPr>
          <a:xfrm>
            <a:off x="886691" y="249381"/>
            <a:ext cx="4156364" cy="6359237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5BDEF56-B713-6A42-8B82-D11ED146C9C5}"/>
              </a:ext>
            </a:extLst>
          </p:cNvPr>
          <p:cNvSpPr/>
          <p:nvPr/>
        </p:nvSpPr>
        <p:spPr>
          <a:xfrm>
            <a:off x="1011382" y="1267831"/>
            <a:ext cx="3893127" cy="41563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dirty="0"/>
              <a:t>ID</a:t>
            </a:r>
            <a:endParaRPr kumimoji="1"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0346BA-B787-5E4F-BE74-776599635A29}"/>
              </a:ext>
            </a:extLst>
          </p:cNvPr>
          <p:cNvSpPr txBox="1"/>
          <p:nvPr/>
        </p:nvSpPr>
        <p:spPr>
          <a:xfrm>
            <a:off x="969818" y="775857"/>
            <a:ext cx="2909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Sign Up</a:t>
            </a:r>
            <a:endParaRPr kumimoji="1"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A64217-08BC-1143-99B3-C817BFE0C7A5}"/>
              </a:ext>
            </a:extLst>
          </p:cNvPr>
          <p:cNvSpPr txBox="1"/>
          <p:nvPr/>
        </p:nvSpPr>
        <p:spPr>
          <a:xfrm>
            <a:off x="3906982" y="3244334"/>
            <a:ext cx="983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Send</a:t>
            </a:r>
            <a:endParaRPr kumimoji="1" lang="ko-KR" altLang="en-US" dirty="0"/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124A6A2F-85C6-A645-BC26-C0C0BC4A1A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4050506"/>
              </p:ext>
            </p:extLst>
          </p:nvPr>
        </p:nvGraphicFramePr>
        <p:xfrm>
          <a:off x="6470073" y="249382"/>
          <a:ext cx="5370946" cy="41682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1382">
                  <a:extLst>
                    <a:ext uri="{9D8B030D-6E8A-4147-A177-3AD203B41FA5}">
                      <a16:colId xmlns:a16="http://schemas.microsoft.com/office/drawing/2014/main" val="1084392719"/>
                    </a:ext>
                  </a:extLst>
                </a:gridCol>
                <a:gridCol w="4359564">
                  <a:extLst>
                    <a:ext uri="{9D8B030D-6E8A-4147-A177-3AD203B41FA5}">
                      <a16:colId xmlns:a16="http://schemas.microsoft.com/office/drawing/2014/main" val="1786874928"/>
                    </a:ext>
                  </a:extLst>
                </a:gridCol>
              </a:tblGrid>
              <a:tr h="36385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번호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기능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2269710"/>
                  </a:ext>
                </a:extLst>
              </a:tr>
              <a:tr h="76050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1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err="1"/>
                        <a:t>뒤로가기</a:t>
                      </a:r>
                      <a:r>
                        <a:rPr lang="ko-KR" altLang="en-US" sz="1200" dirty="0"/>
                        <a:t> 버튼</a:t>
                      </a:r>
                      <a:endParaRPr lang="en-US" altLang="ko-KR" sz="1200" dirty="0"/>
                    </a:p>
                    <a:p>
                      <a:pPr latinLnBrk="1"/>
                      <a:r>
                        <a:rPr lang="en-US" altLang="ko-KR" sz="1200" dirty="0"/>
                        <a:t>–</a:t>
                      </a:r>
                      <a:r>
                        <a:rPr lang="ko-KR" altLang="en-US" sz="1200" dirty="0"/>
                        <a:t> 로그인 페이지 이동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5739453"/>
                  </a:ext>
                </a:extLst>
              </a:tr>
              <a:tr h="76050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2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ID </a:t>
                      </a:r>
                      <a:r>
                        <a:rPr lang="ko-KR" altLang="en-US" sz="1200" dirty="0"/>
                        <a:t>입력</a:t>
                      </a:r>
                      <a:endParaRPr lang="en-US" altLang="ko-KR" sz="120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-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Email </a:t>
                      </a:r>
                      <a:r>
                        <a:rPr lang="ko-KR" altLang="en-US" sz="1200" dirty="0"/>
                        <a:t>정규성 검증</a:t>
                      </a:r>
                      <a:endParaRPr lang="en-US" altLang="ko-K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74650"/>
                  </a:ext>
                </a:extLst>
              </a:tr>
              <a:tr h="76050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3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비밀번호 입력</a:t>
                      </a:r>
                      <a:endParaRPr lang="en-US" altLang="ko-KR" sz="120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-</a:t>
                      </a:r>
                      <a:r>
                        <a:rPr lang="ko-KR" altLang="en-US" sz="1200" dirty="0"/>
                        <a:t> 일치 여부 검증</a:t>
                      </a:r>
                      <a:endParaRPr lang="en-US" altLang="ko-K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5301569"/>
                  </a:ext>
                </a:extLst>
              </a:tr>
              <a:tr h="76050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4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비밀번호 </a:t>
                      </a:r>
                      <a:r>
                        <a:rPr lang="ko-KR" altLang="en-US" sz="1200" dirty="0" err="1"/>
                        <a:t>일치여부</a:t>
                      </a:r>
                      <a:r>
                        <a:rPr lang="ko-KR" altLang="en-US" sz="1200" dirty="0"/>
                        <a:t> 표시</a:t>
                      </a:r>
                      <a:endParaRPr lang="en-US" altLang="ko-KR" sz="1200" dirty="0"/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200" dirty="0"/>
                        <a:t>불일치 시 </a:t>
                      </a:r>
                      <a:r>
                        <a:rPr lang="en-US" altLang="ko-KR" sz="1200" dirty="0" err="1"/>
                        <a:t>unmatch</a:t>
                      </a:r>
                      <a:endParaRPr lang="en-US" altLang="ko-KR" sz="1200" dirty="0"/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200" dirty="0"/>
                        <a:t>일치 시 </a:t>
                      </a:r>
                      <a:r>
                        <a:rPr lang="en-US" altLang="ko-KR" sz="1200" dirty="0"/>
                        <a:t>match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7645522"/>
                  </a:ext>
                </a:extLst>
              </a:tr>
              <a:tr h="76050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5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비밀번호 일치할 경우 회원가입</a:t>
                      </a:r>
                      <a:endParaRPr lang="en-US" altLang="ko-KR" sz="120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–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Firebase API </a:t>
                      </a:r>
                      <a:r>
                        <a:rPr lang="ko-KR" altLang="en-US" sz="1200" dirty="0"/>
                        <a:t>사용</a:t>
                      </a:r>
                      <a:endParaRPr lang="en-US" altLang="ko-K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5814113"/>
                  </a:ext>
                </a:extLst>
              </a:tr>
            </a:tbl>
          </a:graphicData>
        </a:graphic>
      </p:graphicFrame>
      <p:sp>
        <p:nvSpPr>
          <p:cNvPr id="23" name="직사각형 22">
            <a:extLst>
              <a:ext uri="{FF2B5EF4-FFF2-40B4-BE49-F238E27FC236}">
                <a16:creationId xmlns:a16="http://schemas.microsoft.com/office/drawing/2014/main" id="{4E011D9D-B7F5-C241-8378-558B452FE8B3}"/>
              </a:ext>
            </a:extLst>
          </p:cNvPr>
          <p:cNvSpPr/>
          <p:nvPr/>
        </p:nvSpPr>
        <p:spPr>
          <a:xfrm>
            <a:off x="886691" y="249381"/>
            <a:ext cx="4156364" cy="457201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Noti</a:t>
            </a:r>
            <a:endParaRPr kumimoji="1"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20C25A9-DC4F-6648-8F6A-204D51CBB4D0}"/>
              </a:ext>
            </a:extLst>
          </p:cNvPr>
          <p:cNvSpPr/>
          <p:nvPr/>
        </p:nvSpPr>
        <p:spPr>
          <a:xfrm>
            <a:off x="1025236" y="263232"/>
            <a:ext cx="484909" cy="41563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sz="1050" dirty="0"/>
              <a:t>back</a:t>
            </a:r>
            <a:endParaRPr kumimoji="1" lang="ko-KR" altLang="en-US" sz="1050" dirty="0"/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4E69A4D6-C54A-D843-AA19-0CC4472637DB}"/>
              </a:ext>
            </a:extLst>
          </p:cNvPr>
          <p:cNvSpPr/>
          <p:nvPr/>
        </p:nvSpPr>
        <p:spPr>
          <a:xfrm>
            <a:off x="658091" y="-68549"/>
            <a:ext cx="457200" cy="457200"/>
          </a:xfrm>
          <a:prstGeom prst="ellipse">
            <a:avLst/>
          </a:prstGeom>
          <a:ln w="28575">
            <a:solidFill>
              <a:srgbClr val="7030A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dirty="0"/>
              <a:t>1</a:t>
            </a:r>
            <a:endParaRPr kumimoji="1" lang="ko-KR" altLang="en-US" dirty="0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51F19E08-E3D3-0049-B465-6FC8304126EA}"/>
              </a:ext>
            </a:extLst>
          </p:cNvPr>
          <p:cNvSpPr/>
          <p:nvPr/>
        </p:nvSpPr>
        <p:spPr>
          <a:xfrm>
            <a:off x="658091" y="1056917"/>
            <a:ext cx="457200" cy="457200"/>
          </a:xfrm>
          <a:prstGeom prst="ellipse">
            <a:avLst/>
          </a:prstGeom>
          <a:ln w="28575">
            <a:solidFill>
              <a:srgbClr val="7030A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dirty="0"/>
              <a:t>2</a:t>
            </a:r>
            <a:endParaRPr kumimoji="1" lang="ko-KR" altLang="en-US" dirty="0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F72988FF-1DAA-4747-83F0-196FFB11FC03}"/>
              </a:ext>
            </a:extLst>
          </p:cNvPr>
          <p:cNvSpPr/>
          <p:nvPr/>
        </p:nvSpPr>
        <p:spPr>
          <a:xfrm>
            <a:off x="3449782" y="3200400"/>
            <a:ext cx="457200" cy="457200"/>
          </a:xfrm>
          <a:prstGeom prst="ellipse">
            <a:avLst/>
          </a:prstGeom>
          <a:ln w="28575">
            <a:solidFill>
              <a:srgbClr val="7030A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dirty="0"/>
              <a:t>5</a:t>
            </a:r>
            <a:endParaRPr kumimoji="1"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C1F5F81-69FA-EC49-9CF7-1B271F88FF83}"/>
              </a:ext>
            </a:extLst>
          </p:cNvPr>
          <p:cNvSpPr/>
          <p:nvPr/>
        </p:nvSpPr>
        <p:spPr>
          <a:xfrm>
            <a:off x="1011382" y="1887459"/>
            <a:ext cx="3893127" cy="41563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dirty="0"/>
              <a:t>Password</a:t>
            </a:r>
            <a:endParaRPr kumimoji="1" lang="ko-KR" altLang="en-US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9A015C8-EE89-FC40-AABF-579F992C52D6}"/>
              </a:ext>
            </a:extLst>
          </p:cNvPr>
          <p:cNvSpPr/>
          <p:nvPr/>
        </p:nvSpPr>
        <p:spPr>
          <a:xfrm>
            <a:off x="1011382" y="2509721"/>
            <a:ext cx="3893127" cy="41563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dirty="0"/>
              <a:t>Password Confirm</a:t>
            </a:r>
            <a:endParaRPr kumimoji="1" lang="ko-KR" altLang="en-US" dirty="0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E2D24A68-1011-1D48-A552-2CDC6F1340CA}"/>
              </a:ext>
            </a:extLst>
          </p:cNvPr>
          <p:cNvSpPr/>
          <p:nvPr/>
        </p:nvSpPr>
        <p:spPr>
          <a:xfrm>
            <a:off x="658091" y="1664956"/>
            <a:ext cx="457200" cy="457200"/>
          </a:xfrm>
          <a:prstGeom prst="ellipse">
            <a:avLst/>
          </a:prstGeom>
          <a:ln w="28575">
            <a:solidFill>
              <a:srgbClr val="7030A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dirty="0"/>
              <a:t>3</a:t>
            </a:r>
            <a:endParaRPr kumimoji="1"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3D20C7A-1913-F541-BB84-0A487B6A5A8D}"/>
              </a:ext>
            </a:extLst>
          </p:cNvPr>
          <p:cNvSpPr txBox="1"/>
          <p:nvPr/>
        </p:nvSpPr>
        <p:spPr>
          <a:xfrm>
            <a:off x="1468582" y="3244334"/>
            <a:ext cx="1634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 err="1"/>
              <a:t>unmatch</a:t>
            </a:r>
            <a:endParaRPr kumimoji="1" lang="ko-KR" altLang="en-US" dirty="0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8E66718B-CD86-7847-8613-6C6DDCF8ECBF}"/>
              </a:ext>
            </a:extLst>
          </p:cNvPr>
          <p:cNvSpPr/>
          <p:nvPr/>
        </p:nvSpPr>
        <p:spPr>
          <a:xfrm>
            <a:off x="1011382" y="3200400"/>
            <a:ext cx="457200" cy="457200"/>
          </a:xfrm>
          <a:prstGeom prst="ellipse">
            <a:avLst/>
          </a:prstGeom>
          <a:ln w="28575">
            <a:solidFill>
              <a:srgbClr val="7030A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dirty="0"/>
              <a:t>4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372874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CE92B82-C12B-7140-9182-63EC0E54AEBC}"/>
              </a:ext>
            </a:extLst>
          </p:cNvPr>
          <p:cNvSpPr/>
          <p:nvPr/>
        </p:nvSpPr>
        <p:spPr>
          <a:xfrm>
            <a:off x="886691" y="249381"/>
            <a:ext cx="4156364" cy="6359237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947703B-A8C3-4C4D-A155-4D5AD278911B}"/>
              </a:ext>
            </a:extLst>
          </p:cNvPr>
          <p:cNvSpPr/>
          <p:nvPr/>
        </p:nvSpPr>
        <p:spPr>
          <a:xfrm>
            <a:off x="886691" y="249381"/>
            <a:ext cx="4156364" cy="457201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Noti</a:t>
            </a:r>
            <a:endParaRPr kumimoji="1"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89ACD3EF-5392-794F-8AF3-C021B571EF5A}"/>
              </a:ext>
            </a:extLst>
          </p:cNvPr>
          <p:cNvGraphicFramePr>
            <a:graphicFrameLocks noGrp="1"/>
          </p:cNvGraphicFramePr>
          <p:nvPr/>
        </p:nvGraphicFramePr>
        <p:xfrm>
          <a:off x="886691" y="6151417"/>
          <a:ext cx="4156364" cy="457201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039091">
                  <a:extLst>
                    <a:ext uri="{9D8B030D-6E8A-4147-A177-3AD203B41FA5}">
                      <a16:colId xmlns:a16="http://schemas.microsoft.com/office/drawing/2014/main" val="275485686"/>
                    </a:ext>
                  </a:extLst>
                </a:gridCol>
                <a:gridCol w="1039091">
                  <a:extLst>
                    <a:ext uri="{9D8B030D-6E8A-4147-A177-3AD203B41FA5}">
                      <a16:colId xmlns:a16="http://schemas.microsoft.com/office/drawing/2014/main" val="240881608"/>
                    </a:ext>
                  </a:extLst>
                </a:gridCol>
                <a:gridCol w="1039091">
                  <a:extLst>
                    <a:ext uri="{9D8B030D-6E8A-4147-A177-3AD203B41FA5}">
                      <a16:colId xmlns:a16="http://schemas.microsoft.com/office/drawing/2014/main" val="3157163294"/>
                    </a:ext>
                  </a:extLst>
                </a:gridCol>
                <a:gridCol w="1039091">
                  <a:extLst>
                    <a:ext uri="{9D8B030D-6E8A-4147-A177-3AD203B41FA5}">
                      <a16:colId xmlns:a16="http://schemas.microsoft.com/office/drawing/2014/main" val="4148719735"/>
                    </a:ext>
                  </a:extLst>
                </a:gridCol>
              </a:tblGrid>
              <a:tr h="45720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/>
                        <a:t>Noti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Schedule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List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Setting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80610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79902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B6EE8E37-176D-5948-A217-93656866304D}"/>
              </a:ext>
            </a:extLst>
          </p:cNvPr>
          <p:cNvSpPr/>
          <p:nvPr/>
        </p:nvSpPr>
        <p:spPr>
          <a:xfrm>
            <a:off x="949037" y="477980"/>
            <a:ext cx="1011381" cy="26323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A9A64DAF-10C5-B448-BAB7-77F8B9381A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9474958"/>
              </p:ext>
            </p:extLst>
          </p:nvPr>
        </p:nvGraphicFramePr>
        <p:xfrm>
          <a:off x="568036" y="446116"/>
          <a:ext cx="3565236" cy="111252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782618">
                  <a:extLst>
                    <a:ext uri="{9D8B030D-6E8A-4147-A177-3AD203B41FA5}">
                      <a16:colId xmlns:a16="http://schemas.microsoft.com/office/drawing/2014/main" val="113876699"/>
                    </a:ext>
                  </a:extLst>
                </a:gridCol>
                <a:gridCol w="1782618">
                  <a:extLst>
                    <a:ext uri="{9D8B030D-6E8A-4147-A177-3AD203B41FA5}">
                      <a16:colId xmlns:a16="http://schemas.microsoft.com/office/drawing/2014/main" val="1382452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 dirty="0"/>
                        <a:t>팝업 생성하여 </a:t>
                      </a:r>
                      <a:r>
                        <a:rPr lang="ko-KR" altLang="en-US" sz="1050" b="0" dirty="0" err="1"/>
                        <a:t>입력받기</a:t>
                      </a:r>
                      <a:endParaRPr lang="ko-KR" altLang="en-US" sz="105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41363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 dirty="0"/>
                        <a:t>버튼 이벤트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58829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 dirty="0"/>
                        <a:t>스위치 이벤트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1466885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D95B7616-A7B4-BC47-A9E6-E39887802F88}"/>
              </a:ext>
            </a:extLst>
          </p:cNvPr>
          <p:cNvSpPr/>
          <p:nvPr/>
        </p:nvSpPr>
        <p:spPr>
          <a:xfrm>
            <a:off x="949037" y="893617"/>
            <a:ext cx="1011381" cy="26323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606CCC12-64D3-D145-96DC-B6FAA4C4AADE}"/>
              </a:ext>
            </a:extLst>
          </p:cNvPr>
          <p:cNvGrpSpPr/>
          <p:nvPr/>
        </p:nvGrpSpPr>
        <p:grpSpPr>
          <a:xfrm>
            <a:off x="949037" y="1207528"/>
            <a:ext cx="930889" cy="281829"/>
            <a:chOff x="6303819" y="4525696"/>
            <a:chExt cx="1510145" cy="457200"/>
          </a:xfrm>
        </p:grpSpPr>
        <p:sp>
          <p:nvSpPr>
            <p:cNvPr id="8" name="모서리가 둥근 직사각형 7">
              <a:extLst>
                <a:ext uri="{FF2B5EF4-FFF2-40B4-BE49-F238E27FC236}">
                  <a16:creationId xmlns:a16="http://schemas.microsoft.com/office/drawing/2014/main" id="{1875303E-F2C4-C24D-9F3D-4F301B9EB6E7}"/>
                </a:ext>
              </a:extLst>
            </p:cNvPr>
            <p:cNvSpPr/>
            <p:nvPr/>
          </p:nvSpPr>
          <p:spPr>
            <a:xfrm>
              <a:off x="6303819" y="4525696"/>
              <a:ext cx="1510145" cy="457200"/>
            </a:xfrm>
            <a:prstGeom prst="roundRect">
              <a:avLst>
                <a:gd name="adj" fmla="val 50000"/>
              </a:avLst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2344115C-40E5-FB46-829C-56A63F6FA4B2}"/>
                </a:ext>
              </a:extLst>
            </p:cNvPr>
            <p:cNvSpPr/>
            <p:nvPr/>
          </p:nvSpPr>
          <p:spPr>
            <a:xfrm>
              <a:off x="7329055" y="4525696"/>
              <a:ext cx="484909" cy="457200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9528518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6880</TotalTime>
  <Words>646</Words>
  <Application>Microsoft Macintosh PowerPoint</Application>
  <PresentationFormat>와이드스크린</PresentationFormat>
  <Paragraphs>273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이승환</dc:creator>
  <cp:lastModifiedBy>이승환</cp:lastModifiedBy>
  <cp:revision>14</cp:revision>
  <dcterms:created xsi:type="dcterms:W3CDTF">2019-09-18T10:25:41Z</dcterms:created>
  <dcterms:modified xsi:type="dcterms:W3CDTF">2019-09-23T05:06:12Z</dcterms:modified>
</cp:coreProperties>
</file>